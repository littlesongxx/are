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开场先讲清楚核心变化：baseline 擅长根据当前图选择下一步，本计划进一步让策略显式判断候选方向后面可能打开多少新空间，并知道这份判断是否可靠。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先从任务本质切入：探索是对未知区域价值的序列估计问题。后续三项方法分别回答未来收益、可信度和长程结构。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强调继承关系。我们的贡献不是重做 actor-critic，而是改变 actor 用来推理未知区域的状态表示和监督方式。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 ARiADNE 讲成一个闭环：地图只决定当前可行图，策略每次只选一个邻居。utility 是该点当前能看到的 frontier 数量，访问标记让策略知道自己走过哪里。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 负责把邻域信息传播到更远位置，Decoder 先理解全图再在可行邻居中做选择。Critic 通过长期累计奖励告诉 Actor 哪个动作从长远看更好，但这个长期潜力没有单独的监督目标。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Baseline2 的第一项变化不是让机器人运行时偷看完整地图，而是利用 Actor-Critic 的训练结构：Critic 本来就只在训练时存在，因此可用真值图给出更稳定的长期价值目标。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图稀疏化先找到所有有信息的区域，再保留从机器人到这些区域的关键骨架，最后重建稀疏连接。这样不是改变策略，而是把大场景转换为策略熟悉的较短图结构。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用四个数字串起两篇论文：ARiADNE 相比 TARE Local 约提升 5%；baseline2 的真值 Critic 又比 ARiADNE 缩短约 7%；进入室内大场景后，距离效率仍优于 TARE，并保持更快规划。最后落到本文缺口：未知区域潜力仍靠隐式预测。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四个缺口实际指向同一个问题：策略缺少一份可解释、可更新的未来收益判断。后续方法都围绕这份判断展开。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这一页只讲最终方法，不讲思想来自哪里。用一句话概括：先判断候选方向的长期潜力，再根据可信度和地图尺度把判断转成下一步动作。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先顺着四个水平步骤讲算法：异方差 Potential Head 预测潜力和不确定性；自适应 Kalman Filter 维护时序 belief；Random-Walk Graph Wavelet 与 Pooling 重组远近尺度；层级 Pointer 最终只在可行邻居中选一步。完整地图只在训练期提供蒸馏教师和标签，上线后没有额外传感器。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 A 采用 Teacher–Student 特权信息蒸馏：GT rollout 构造 future-gain，学生 Potential Head 用异方差 Gaussian NLL 学均值与方差，并用 RankNet 式成对排序学习候选顺序。算法 B 采用自适应 Kalman Filter：Potential Head 是观测，预测方差对应观测噪声 R，地图结构事件提高过程噪声 Q 或触发重置。算法 C 采用 Random-Walk Graph Wavelet，在 1/2/4-hop 尺度得到低频趋势与高频残差；低频经 DiffPool 形成区域 token，高频节点以 Top-K 保留，A* 路径骨架保证连通。最后仍由 Encoder、层级 Decoder 和 Pointer 输出可行邻居。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 A 的标签只在训练期计算。固定同一时刻的 belief map，对每个候选方向在 GT map 上做有限视距 rollout，统计新可达自由空间并按路程折扣，形成 future-gain。Teacher 读取 GT graph，Student 只读 belief graph，通过特权信息蒸馏对齐潜力表征。共享 Graph Encoder 后的 Potential Head 输出均值和 log-variance，用异方差 Gaussian NLL 学数值与数据相关不确定性，用 RankNet 式成对损失学习候选顺序，再与离散 SAC 联合优化。部署时只保留 Student。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 B 是自适应 Kalman Filter，而不是原先的 raw Utility KF。状态 x 是节点未来潜力，Potential Head 输出是观测 z，预测方差映射为观测噪声 R；地图稳定时过程噪声 Q 较小，连续观测会降低 posterior covariance。检测到节点访问、frontier 消失、边失效或区域合并分裂时，提高 Q 使滤波器快速跟随，或直接重置状态。这样既保留 Kalman 的不确定性递推，又不会把真实结构突变当作普通噪声抹平。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 C 采用 Random-Walk Graph Wavelet Transform。对节点隐藏特征分别做 1/2/4-hop 随机游走平滑，低频 LF 表示房间、长走廊和区域趋势，高频 HF 等于原始特征减低频，突出 frontier、拐角和拓扑变化。远端 LF 特征输入 DiffPool 形成区域 token；机器人附近的高频节点按未来潜力、预测方差和 wavelet energy 做 Top-K 保留。最后用 A* 最短路径骨架补回连接区域 token 与局部动作图所需的节点。Encoder 用 LF 构造全局 Q/K，Value 分支保留原始特征与 HF residual；Pointer Decoder 最终仍只选择当前可行邻居。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训练期 GT Teacher 提供 future-gain 标签和 Graph Wavelet 的 LF/HF 教师特征，Student 通过特权蒸馏、Gaussian NLL、RankNet 与 SAC 联合训练。部署期教师和 GT map 全部移除，只保留 Student Potential Head、自适应 KF、Graph Wavelet/DiffPool 与 Pointer Actor。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这一页是最“人话”的方法总结。按路口场景顺序讲：看到候选方向、判断后续、核对可信度、保留关键结构、最终选择。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只比较 baseline 和最终方法。强调保留动作空间和训练主干，真正改变的是对未知区域的显式建模方式。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贡献不要写成模块清单。三点分别解决“看多远、信多少、怎样组织远近信息”，最后都落到同一个行为假设。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讲消融时先说“为什么按这个顺序”。未来潜力是前提；时序与多尺度分别验证；最后才看完整方法是否互补。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这一页避免任何虚构数字。每项预期都写成“机器人会怎样表现”和“用什么现象判断”，方便后续直接替换成实验结果。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路线图按科学问题排序。第一风险不是工程集成，而是未来潜力标签是否有信息量、模型是否学得会。只有这一点成立，后续机制才有意义。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引用页只保留论文与理论依据。正式写作时再扩展主动探索、图规划、不确定性校准和特权学习相关工作。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结束时回到最直白的一句话：机器人不仅看眼前哪里信息多，还要判断哪条路更可能真正打开新空间，并知道自己是否判断得准。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C7D3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UPBG-RL  |  论文改进计划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21408"/>
            <a:ext cx="12191695" cy="2103120"/>
          </a:xfrm>
          <a:prstGeom prst="roundRect">
            <a:avLst/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21408"/>
            <a:ext cx="3840480" cy="2103120"/>
          </a:xfrm>
          <a:prstGeom prst="roundRect">
            <a:avLst/>
          </a:prstGeom>
          <a:solidFill>
            <a:srgbClr val="04617B">
              <a:alpha val="95000"/>
            </a:srgbClr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论文改进计划 / 2026.08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234086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UPBG-RL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889504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 Predictive Belief Graph Reinforcement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3467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面向大规模自主探索的预测式多尺度信念图强化学习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76732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ARiADNE / Large-scale DRL baseline 的论文主线升级</a:t>
            </a:r>
            <a:endParaRPr lang="en-US" sz="1050" dirty="0"/>
          </a:p>
        </p:txBody>
      </p:sp>
      <p:pic>
        <p:nvPicPr>
          <p:cNvPr id="9" name="Image 0" descr="/home/song/code_docker/ros_ws/ARE/maps/img_412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9217152" y="4416552"/>
            <a:ext cx="2057400" cy="15453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4617720"/>
            <a:ext cx="7845552" cy="0"/>
          </a:xfrm>
          <a:prstGeom prst="line">
            <a:avLst/>
          </a:prstGeom>
          <a:noFill/>
          <a:ln w="12700">
            <a:solidFill>
              <a:srgbClr val="7DA5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882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汇报人：宋恩圣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5248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导师：梁建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26080" y="491947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核心转变：不只看眼前 frontier，而是判断哪条路更可能打开新区域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5870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B87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论文改进计划汇报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RESEARCH QUESTION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探索真正困难的部分：评价“尚未看见”的区域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机器人只能看到局部地图，却要选择对最终路径最有利的下一步；当前收益与长期潜力并不等价。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65376"/>
            <a:ext cx="6565392" cy="3749040"/>
          </a:xfrm>
          <a:prstGeom prst="roundRect">
            <a:avLst>
              <a:gd name="adj" fmla="val 195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部分可观测的闭环决策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907792"/>
            <a:ext cx="1225296" cy="603504"/>
          </a:xfrm>
          <a:prstGeom prst="roundRect">
            <a:avLst>
              <a:gd name="adj" fmla="val 12121"/>
            </a:avLst>
          </a:prstGeom>
          <a:solidFill>
            <a:srgbClr val="EAF4F8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71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局部地图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96112" y="36758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当前已知范围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253996" y="3154680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907792"/>
            <a:ext cx="1225296" cy="603504"/>
          </a:xfrm>
          <a:prstGeom prst="roundRect">
            <a:avLst>
              <a:gd name="adj" fmla="val 12121"/>
            </a:avLst>
          </a:prstGeom>
          <a:solidFill>
            <a:srgbClr val="EAF4F8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2971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候选节点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468880" y="36758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眼前可见信息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826764" y="3154680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9936" y="2907792"/>
            <a:ext cx="1225296" cy="603504"/>
          </a:xfrm>
          <a:prstGeom prst="roundRect">
            <a:avLst>
              <a:gd name="adj" fmla="val 12121"/>
            </a:avLst>
          </a:prstGeom>
          <a:solidFill>
            <a:srgbClr val="EAF4F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2971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选择下一步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041648" y="36758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输出导航目标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399532" y="3154680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32704" y="2907792"/>
            <a:ext cx="1225296" cy="603504"/>
          </a:xfrm>
          <a:prstGeom prst="roundRect">
            <a:avLst>
              <a:gd name="adj" fmla="val 12121"/>
            </a:avLst>
          </a:prstGeom>
          <a:solidFill>
            <a:srgbClr val="EAF4F8"/>
          </a:solidFill>
          <a:ln w="10160">
            <a:solidFill>
              <a:srgbClr val="A5C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29718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执行并更新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14416" y="36758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获得新的观测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932688" y="4160520"/>
            <a:ext cx="5916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B87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地图更新后进入下一轮判断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32688" y="4599432"/>
            <a:ext cx="5907024" cy="603504"/>
          </a:xfrm>
          <a:prstGeom prst="roundRect">
            <a:avLst>
              <a:gd name="adj" fmla="val 9091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76402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难点：眼前 frontier 多，不代表这条路后面真的有更多可探索空间。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987552" y="5376672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目标：完成覆盖，同时减少总路程、回退和重复访问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34656" y="2029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本文核心问题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479792" y="2487168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2487168"/>
            <a:ext cx="50292" cy="932688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6243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未来收益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7680960" y="2980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能否显式预测每个节点将揭示多少未知自由空间，而不只依赖当前 frontier 数量？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479792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9792" y="3474720"/>
            <a:ext cx="50292" cy="932688"/>
          </a:xfrm>
          <a:prstGeom prst="roundRect">
            <a:avLst>
              <a:gd name="adj" fmla="val 36364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6118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预测可信度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7680960" y="3968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能否让策略知道“预测有多可靠”，并在保守与主动探索之间自适应切换？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7479792" y="4462272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4462272"/>
            <a:ext cx="50292" cy="932688"/>
          </a:xfrm>
          <a:prstGeom prst="roundRect">
            <a:avLst>
              <a:gd name="adj" fmla="val 36364"/>
            </a:avLst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5994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长程结构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7680960" y="4956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能否在固定节点预算下，同时保留区域级趋势和 frontier / 路口级局部细节？</a:t>
            </a:r>
            <a:endParaRPr lang="en-US" sz="910" dirty="0"/>
          </a:p>
        </p:txBody>
      </p:sp>
      <p:sp>
        <p:nvSpPr>
          <p:cNvPr id="42" name="Text 40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formulation: Cao et al. (2023, 2024)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BASELINE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两代 baseline 已经解决了什么，我们还缺什么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 建立图注意力决策主干；2024 年工作用训练期真值 Critic 与图稀疏化扩展到大场景。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971800"/>
            <a:ext cx="10076688" cy="0"/>
          </a:xfrm>
          <a:prstGeom prst="line">
            <a:avLst/>
          </a:prstGeom>
          <a:noFill/>
          <a:ln w="25400">
            <a:solidFill>
              <a:srgbClr val="C7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2779776"/>
            <a:ext cx="384048" cy="384048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13832" y="2779776"/>
            <a:ext cx="384048" cy="384048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C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02368" y="2779776"/>
            <a:ext cx="384048" cy="384048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8048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本计划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" y="3328416"/>
            <a:ext cx="3310128" cy="1627632"/>
          </a:xfrm>
          <a:prstGeom prst="roundRect">
            <a:avLst>
              <a:gd name="adj" fmla="val 449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328416"/>
            <a:ext cx="50292" cy="1627632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4655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 / ICRA 2023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50976" y="3822192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把可通行区域转换为图节点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用多层注意力理解局部与全局关系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离散 SAC 选择下一导航点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52544" y="3328416"/>
            <a:ext cx="3310128" cy="1627632"/>
          </a:xfrm>
          <a:prstGeom prst="roundRect">
            <a:avLst>
              <a:gd name="adj" fmla="val 449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2544" y="3328416"/>
            <a:ext cx="50292" cy="1627632"/>
          </a:xfrm>
          <a:prstGeom prst="roundRect">
            <a:avLst>
              <a:gd name="adj" fmla="val 36364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4655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Large-scale DRL / RA-L 2024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4553712" y="3822192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训练时让 Critic 看完整地图，减少估值噪声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图稀疏化控制大场景计算量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完成大场景仿真和真实机器人验证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55280" y="3328416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328416"/>
            <a:ext cx="50292" cy="1627632"/>
          </a:xfrm>
          <a:prstGeom prst="roundRect">
            <a:avLst>
              <a:gd name="adj" fmla="val 36364"/>
            </a:avLst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46557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UPBG-RL / 本文计划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8156448" y="3822192"/>
            <a:ext cx="3127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显式学习候选方向后面的未来空间潜力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跨时间维护判断及其可信度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用区域级和局部级图同时支持远近决策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" y="53218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53309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主干保留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76272" y="5321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动作定义、在线重规划、注意力 Actor 与 SAC 训练框架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388352" y="53218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53309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研究升级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58784" y="5321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从隐式估值升级为可解释的未来潜力判断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ICRA 2023; IEEE RA-L 2024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BASELINE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ARiADNE：把探索改写成图上的连续选点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它不一次规划完整轨迹，而是反复选择一个可行邻居作为下一视点，边走边更新地图。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4736592" cy="3730752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pic>
        <p:nvPicPr>
          <p:cNvPr id="9" name="Image 0" descr="/home/song/code_docker/ros_ws/ARE/presentation/assets/ariadne_decision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4078224" cy="32369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34009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7B87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灰色：未知区域　白色：已知自由区域　彩色点：候选视点与当前 utility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724144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一次决策如何形成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05856" y="2286000"/>
            <a:ext cx="5650992" cy="585216"/>
          </a:xfrm>
          <a:prstGeom prst="roundRect">
            <a:avLst>
              <a:gd name="adj" fmla="val 9375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25312" y="2441448"/>
            <a:ext cx="274320" cy="274320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52374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6345936" y="24323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候选视点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26096" y="238658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在已知自由区域均匀布点，形成机器人可能到达的位置。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705856" y="3017520"/>
            <a:ext cx="5650992" cy="585216"/>
          </a:xfrm>
          <a:prstGeom prst="roundRect">
            <a:avLst>
              <a:gd name="adj" fmla="val 9375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5312" y="3172968"/>
            <a:ext cx="274320" cy="274320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32552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345936" y="3163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无碰撞连边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6096" y="311810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只连接近邻且路径不穿过障碍或未知区域，得到可执行图。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705856" y="3749040"/>
            <a:ext cx="5650992" cy="585216"/>
          </a:xfrm>
          <a:prstGeom prst="roundRect">
            <a:avLst>
              <a:gd name="adj" fmla="val 9375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25312" y="3904488"/>
            <a:ext cx="274320" cy="274320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398678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6345936" y="38953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节点信息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26096" y="384962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每个点包含位置、当前可见 frontier 数量和是否访问。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5705856" y="4480560"/>
            <a:ext cx="5650992" cy="585216"/>
          </a:xfrm>
          <a:prstGeom prst="roundRect">
            <a:avLst>
              <a:gd name="adj" fmla="val 9375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25312" y="4636008"/>
            <a:ext cx="274320" cy="274320"/>
          </a:xfrm>
          <a:prstGeom prst="ellipse">
            <a:avLst/>
          </a:prstGeom>
          <a:solidFill>
            <a:srgbClr val="A5C249"/>
          </a:solidFill>
          <a:ln w="10160">
            <a:solidFill>
              <a:srgbClr val="A5C249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5312" y="471830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6345936" y="4626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下一动作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6096" y="458114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策略从当前点的可行邻居中选一个目标；到达后重新建图。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5705856" y="5321808"/>
            <a:ext cx="5650992" cy="365760"/>
          </a:xfrm>
          <a:prstGeom prst="roundRect">
            <a:avLst>
              <a:gd name="adj" fmla="val 12500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61888" y="5413248"/>
            <a:ext cx="5138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闭环：局部地图 → 动态图 → 下一视点 → 新观测 → 更新地图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figure from the original monthly report; Cao et al., ICRA 2023, Fig. 2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BASELINE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ARiADNE：注意力网络怎样做出“非短视”选择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Encoder 理解整张局部图的区域依赖，Decoder 再把全局判断落到当前可行邻居。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7278624" cy="2596896"/>
          </a:xfrm>
          <a:prstGeom prst="roundRect">
            <a:avLst>
              <a:gd name="adj" fmla="val 2817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pic>
        <p:nvPicPr>
          <p:cNvPr id="9" name="Image 0" descr="/home/song/code_docker/ros_ws/ARE/presentation/assets/ariadne_policy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94560"/>
            <a:ext cx="6803136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56448" y="1847088"/>
            <a:ext cx="3346704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56448" y="1847088"/>
            <a:ext cx="50292" cy="1207008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57616" y="198424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Encoder / 看懂整张图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8357616" y="2340864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层图注意力逐层聚合邻居；堆叠后，每个节点都带上更远区域的上下文。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8156448" y="3236976"/>
            <a:ext cx="3346704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56448" y="3236976"/>
            <a:ext cx="50292" cy="1207008"/>
          </a:xfrm>
          <a:prstGeom prst="roundRect">
            <a:avLst>
              <a:gd name="adj" fmla="val 36364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337413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Decoder / 落到下一步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8357616" y="3730752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当前位置先读取全图，再只比较可行邻居；Pointer 输出各邻居的选择概率。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58368" y="4700016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4700016"/>
            <a:ext cx="50292" cy="950976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48371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Actor / 负责选择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59536" y="519379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根据局部信息图输出下一导航点；部署时保留。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4334256" y="4700016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4256" y="4700016"/>
            <a:ext cx="50292" cy="950976"/>
          </a:xfrm>
          <a:prstGeom prst="roundRect">
            <a:avLst>
              <a:gd name="adj" fmla="val 36364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35424" y="48371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 / 负责评估</a:t>
            </a:r>
            <a:endParaRPr lang="en-US" sz="1160" dirty="0"/>
          </a:p>
        </p:txBody>
      </p:sp>
      <p:sp>
        <p:nvSpPr>
          <p:cNvPr id="25" name="Text 22"/>
          <p:cNvSpPr/>
          <p:nvPr/>
        </p:nvSpPr>
        <p:spPr>
          <a:xfrm>
            <a:off x="4535424" y="519379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预测动作的长期累计回报，用来训练 Actor；部署时移除。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8010144" y="4700016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10144" y="4700016"/>
            <a:ext cx="50292" cy="950976"/>
          </a:xfrm>
          <a:prstGeom prst="roundRect">
            <a:avLst>
              <a:gd name="adj" fmla="val 36364"/>
            </a:avLst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11312" y="48371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SAC / 负责学习</a:t>
            </a:r>
            <a:endParaRPr lang="en-US" sz="1160" dirty="0"/>
          </a:p>
        </p:txBody>
      </p:sp>
      <p:sp>
        <p:nvSpPr>
          <p:cNvPr id="29" name="Text 26"/>
          <p:cNvSpPr/>
          <p:nvPr/>
        </p:nvSpPr>
        <p:spPr>
          <a:xfrm>
            <a:off x="8211312" y="519379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发现新 frontier 得分，移动距离扣分，完成探索再加分。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10753344" cy="310896"/>
          </a:xfrm>
          <a:prstGeom prst="roundRect">
            <a:avLst>
              <a:gd name="adj" fmla="val 14706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6112" y="5861304"/>
            <a:ext cx="10277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非短视性来自“全图注意力 + 长期回报估计”；但未知区域的未来价值仍然只是隐式学到。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architecture from the original monthly report; Cao et al., ICRA 2023, Fig. 3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BASELINE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Large-scale DRL：先解决训练噪声，再谈大场景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第二篇保留 ARiADNE 的图注意力 Actor，新增训练期真值 Critic 与图稀疏化。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5212080" cy="1152144"/>
          </a:xfrm>
          <a:prstGeom prst="roundRect">
            <a:avLst>
              <a:gd name="adj" fmla="val 634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50292" cy="1152144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8424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A：Critic 只能看见局部地图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59536" y="23408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探索是部分可观测问题。Critic 一边猜未知区域，一边估计长期回报，训练目标容易波动，进而影响 Actor。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1847088"/>
            <a:ext cx="5212080" cy="1152144"/>
          </a:xfrm>
          <a:prstGeom prst="roundRect">
            <a:avLst>
              <a:gd name="adj" fmla="val 634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1847088"/>
            <a:ext cx="50292" cy="1152144"/>
          </a:xfrm>
          <a:prstGeom prst="roundRect">
            <a:avLst>
              <a:gd name="adj" fmla="val 36364"/>
            </a:avLst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8424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B：大地图让图迅速膨胀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309360" y="23408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节点数量随自由空间增加；远处 frontier 之间夹着大量零 utility 节点，计算变重，信息传播也变长。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310128"/>
            <a:ext cx="5212080" cy="2066544"/>
          </a:xfrm>
          <a:prstGeom prst="roundRect">
            <a:avLst>
              <a:gd name="adj" fmla="val 3540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5478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Actor：始终只看局部信息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局部信息图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295144" y="4343400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15184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提出下一动作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995928" y="4343400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1688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更新选择策略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69264" y="4937760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部署条件没有变化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108192" y="3310128"/>
            <a:ext cx="5212080" cy="2066544"/>
          </a:xfrm>
          <a:prstGeom prst="roundRect">
            <a:avLst>
              <a:gd name="adj" fmla="val 3540"/>
            </a:avLst>
          </a:prstGeom>
          <a:solidFill>
            <a:srgbClr val="F1EDF9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3547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Critic：训练时读取完整地图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64224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完整地图图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744968" y="4343400"/>
            <a:ext cx="164592" cy="164592"/>
          </a:xfrm>
          <a:prstGeom prst="chevron">
            <a:avLst/>
          </a:prstGeom>
          <a:solidFill>
            <a:srgbClr val="628EE3"/>
          </a:solidFill>
          <a:ln w="12700">
            <a:solidFill>
              <a:srgbClr val="628EE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估计长期价值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445752" y="4343400"/>
            <a:ext cx="164592" cy="164592"/>
          </a:xfrm>
          <a:prstGeom prst="chevron">
            <a:avLst/>
          </a:prstGeom>
          <a:solidFill>
            <a:srgbClr val="628EE3"/>
          </a:solidFill>
          <a:ln w="12700">
            <a:solidFill>
              <a:srgbClr val="628EE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4151376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11512" y="4215384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提供稳定目标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419088" y="4937760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论文报告价值损失与梯度方差约降低一个数量级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58368" y="5596128"/>
            <a:ext cx="10661904" cy="365760"/>
          </a:xfrm>
          <a:prstGeom prst="roundRect">
            <a:avLst>
              <a:gd name="adj" fmla="val 12500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5687568"/>
            <a:ext cx="10186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完整地图只帮助 Critic 在训练中教得更稳；部署时 Critic 与真值图全部移除。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IEEE RA-L 2024, Sec. IV-C and Appendix Fig. 8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BASELINE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图稀疏化：把小场景训练出的策略带到大场景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目标不是随意删点，而是用更少节点保留 frontier、关键通路和远程连通关系。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6711696" cy="3236976"/>
          </a:xfrm>
          <a:prstGeom prst="roundRect">
            <a:avLst>
              <a:gd name="adj" fmla="val 2260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pic>
        <p:nvPicPr>
          <p:cNvPr id="9" name="Image 0" descr="/home/song/code_docker/ros_ws/ARE/presentation/assets/large_p3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48256"/>
            <a:ext cx="6382512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4754880"/>
            <a:ext cx="6016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点云 → Octomap → 信息图 → 稀疏图 → 注意力策略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187452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057400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08976" y="206654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449056" y="19933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聚合探索目标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9765792" y="194767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把非零 utility 节点按邻接关系组成若干信息区域。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7589520" y="2660904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0" y="2843784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08976" y="28529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49056" y="27797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寻找通往目标的骨架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9765792" y="2734056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从机器人到每个区域运行 A*，得到需要保留的通路。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589520" y="3447288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0" y="363016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08976" y="36393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449056" y="35661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视线压缩路径节点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9765792" y="35204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能直达时跳过中间点，只留下转折与连接所需节点。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7589520" y="4233672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0" y="4416552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08976" y="442569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449056" y="435254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重建稀疏信息图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9765792" y="4306824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用更短的图距离连接远端信息，同一 Actor 无需重新训练。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658368" y="5358384"/>
            <a:ext cx="10771632" cy="420624"/>
          </a:xfrm>
          <a:prstGeom prst="roundRect">
            <a:avLst>
              <a:gd name="adj" fmla="val 13043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5468112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Small-to-large 的关键：训练时学会“如何在图上比较方向”，部署时再用稀疏图控制规模和传播距离。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IEEE RA-L 2024, Fig. 2 and Sec. IV-D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BASELINE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两次 baseline 升级分别带来了什么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 先证明图注意力策略能减少短视；baseline2 再通过真值 Critic 与稀疏图扩展训练稳定性和场景规模。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pic>
        <p:nvPicPr>
          <p:cNvPr id="8" name="Image 0" descr="/home/song/code_docker/ros_ws/ARE/presentation/assets/large_p6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7088"/>
            <a:ext cx="4681728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385816"/>
            <a:ext cx="4681728" cy="329184"/>
          </a:xfrm>
          <a:prstGeom prst="roundRect">
            <a:avLst>
              <a:gd name="adj" fmla="val 13889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44982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m × 100 m indoor benchmark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815584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论文报告的关键结果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33872" y="23774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33872" y="2798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 random set：平均路径长度优于 TARE Local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503920" y="23774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C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503920" y="2798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small-scale：真值 Critic 相比 ARiADNE 进一步缩短路径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833872" y="34930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5C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833872" y="39136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large-scale indoor：distance efficiency 优于 TARE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8503920" y="34930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faster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503920" y="39136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论文对 large-scale planning computation 的表述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815584" y="4645152"/>
            <a:ext cx="5513832" cy="1024128"/>
          </a:xfrm>
          <a:prstGeom prst="roundRect">
            <a:avLst>
              <a:gd name="adj" fmla="val 7143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15584" y="4645152"/>
            <a:ext cx="50292" cy="1024128"/>
          </a:xfrm>
          <a:prstGeom prst="roundRect">
            <a:avLst>
              <a:gd name="adj" fmla="val 36364"/>
            </a:avLst>
          </a:prstGeom>
          <a:solidFill>
            <a:srgbClr val="E13B3B"/>
          </a:solidFill>
          <a:ln w="10160">
            <a:solidFill>
              <a:srgbClr val="E1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16752" y="47823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能力已经很强，但未知区域仍靠隐式猜测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6016752" y="5138928"/>
            <a:ext cx="5148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室内大场景中路径与计算效率更优，也完成真实机器人验证；但室外结构变化时仍会随机选点，说明未来潜力缺少显式表达与可信度。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ICRA 2023, Table I; IEEE RA-L 2024, Tables I–III and Sec. V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RESEARCH GAP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缺的不是更多模块，而是一份“未知区域价值判断”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现有方法能根据局部图做决策，但对候选方向的长期潜力仍主要依赖隐式学习。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883664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883664"/>
            <a:ext cx="50292" cy="1280160"/>
          </a:xfrm>
          <a:prstGeom prst="roundRect">
            <a:avLst>
              <a:gd name="adj" fmla="val 36364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208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未来潜力没有直接教学答案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4864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utility 只统计当前能看到的 frontier；未知区域的长期价值主要通过最终奖励间接学到，信号较稀疏。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279392" y="2029968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2039112"/>
            <a:ext cx="1225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1 / 只看当前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99632" y="1883664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883664"/>
            <a:ext cx="50292" cy="1280160"/>
          </a:xfrm>
          <a:prstGeom prst="roundRect">
            <a:avLst>
              <a:gd name="adj" fmla="val 36364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208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跨时间判断容易不一致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4864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同一节点的判断会随新地图跳变；策略不知道本次预测有多可靠，也难区分观测噪声和真实结构变化。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784080" y="2029968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0656" y="2039112"/>
            <a:ext cx="1225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2 / 缺少记忆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944" y="347472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3474720"/>
            <a:ext cx="50292" cy="1280160"/>
          </a:xfrm>
          <a:prstGeom prst="roundRect">
            <a:avLst>
              <a:gd name="adj" fmla="val 36364"/>
            </a:avLst>
          </a:prstGeom>
          <a:solidFill>
            <a:srgbClr val="F49100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6118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全局趋势与局部细节混在一起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96112" y="3968496"/>
            <a:ext cx="4864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统一的邻域传播与固定稀疏规则，难以同时保留远处区域趋势和近处 frontier 细节。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279392" y="362102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3630168"/>
            <a:ext cx="1225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3 / 远近混合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47472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474720"/>
            <a:ext cx="50292" cy="1280160"/>
          </a:xfrm>
          <a:prstGeom prst="roundRect">
            <a:avLst>
              <a:gd name="adj" fmla="val 36364"/>
            </a:avLst>
          </a:prstGeom>
          <a:solidFill>
            <a:srgbClr val="628EE3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6118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完整地图知识主要停留在 Critic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6400800" y="3968496"/>
            <a:ext cx="4864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完整地图帮助 Critic 稳定估值，却没有直接教 Actor 识别节点的长期潜力和远近结构。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784080" y="362102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0656" y="3630168"/>
            <a:ext cx="1225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4 / 教得不够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4944" y="5230368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358384"/>
            <a:ext cx="1031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研究命题：让策略显式判断“从这里继续走，可能打开多少新空间”，并持续维护判断的可信度。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derived from baseline inputs and stated future work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FINAL IDEA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最终优化思路：给每个候选方向一份“未来潜力判断”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这份判断既回答“后面可能有多少新空间”，也回答“我对这个判断有多大把握”。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847088"/>
            <a:ext cx="10808208" cy="658368"/>
          </a:xfrm>
          <a:prstGeom prst="roundRect">
            <a:avLst>
              <a:gd name="adj" fmla="val 8333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2996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机器人不再只比较眼前有多少 frontier，而是比较：继续走下去，哪条路更可能带来真正有价值的新区域。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2889504"/>
            <a:ext cx="3246120" cy="1956816"/>
          </a:xfrm>
          <a:prstGeom prst="roundRect">
            <a:avLst>
              <a:gd name="adj" fmla="val 3738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3154680"/>
            <a:ext cx="420624" cy="42062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2826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17904" y="3154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先看得更远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703320"/>
            <a:ext cx="2724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从局部地图和图结构中，预测候选节点后面可能打开多少尚未发现的自由空间。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28516" y="3776472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1416" y="2889504"/>
            <a:ext cx="3246120" cy="1956816"/>
          </a:xfrm>
          <a:prstGeom prst="roundRect">
            <a:avLst>
              <a:gd name="adj" fmla="val 3738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154680"/>
            <a:ext cx="420624" cy="420624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826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76088" y="3154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再判断是否可信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3703320"/>
            <a:ext cx="2724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把历史判断和当前证据放在一起看；证据可靠就跟进，结构突变就重新评估。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86700" y="3776472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889504"/>
            <a:ext cx="3246120" cy="1956816"/>
          </a:xfrm>
          <a:prstGeom prst="roundRect">
            <a:avLst>
              <a:gd name="adj" fmla="val 3738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7344" y="3154680"/>
            <a:ext cx="420624" cy="420624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7344" y="32826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34272" y="3154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最后兼顾远近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85632" y="3703320"/>
            <a:ext cx="2724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远处保留区域方向，近处保留 frontier、路口与可执行路径，让长期目标能落到下一步动作。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5248656"/>
            <a:ext cx="10762488" cy="493776"/>
          </a:xfrm>
          <a:prstGeom prst="roundRect">
            <a:avLst>
              <a:gd name="adj" fmla="val 11111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538581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最终进入策略的不是三套零散模块，而是一份会预测、会更新、能跨尺度表达的未知区域价值判断。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UPBG-RL proposed method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OVERALL METHOD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完整方法只有四步：预测、更新、组织、决策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四步沿同一条部署链运行；机器人实际执行时仍然只读取自己的局部地图。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93392"/>
            <a:ext cx="2286000" cy="2029968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9536" y="26609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异方差潜力预测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063240"/>
            <a:ext cx="1865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用特权信息蒸馏学习 future-gain，同时输出潜力均值与预测不确定性。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118104" y="2926080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5576" y="1993392"/>
            <a:ext cx="2286000" cy="2029968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6744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66744" y="26609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 KF 更新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66744" y="3063240"/>
            <a:ext cx="1865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将潜力预测作为观测；由不确定性和结构事件自适应调整 Q/R。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925312" y="2926080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993392"/>
            <a:ext cx="2286000" cy="2029968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73952" y="26609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图小波 + Pooling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063240"/>
            <a:ext cx="1865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Random-Walk Graph Wavelet 分离低频趋势和高频细节，再重组节点。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732520" y="2926080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9992" y="1993392"/>
            <a:ext cx="2286000" cy="2029968"/>
          </a:xfrm>
          <a:prstGeom prst="roundRect">
            <a:avLst>
              <a:gd name="adj" fmla="val 3604"/>
            </a:avLst>
          </a:prstGeom>
          <a:solidFill>
            <a:srgbClr val="F7F9FB"/>
          </a:solidFill>
          <a:ln w="10160">
            <a:solidFill>
              <a:srgbClr val="A5C2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281160" y="26609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 Pointer 决策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81160" y="3063240"/>
            <a:ext cx="1865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区域上下文先定方向，Decoder 再从当前可行邻居中选下一航点。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4443984"/>
            <a:ext cx="10707624" cy="585216"/>
          </a:xfrm>
          <a:prstGeom prst="roundRect">
            <a:avLst>
              <a:gd name="adj" fmla="val 9375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60857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部署阶段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57984" y="4599432"/>
            <a:ext cx="8833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局部地图进入策略，直接输出下一导航点；传感器条件与 baseline 一致。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58368" y="5230368"/>
            <a:ext cx="10707624" cy="585216"/>
          </a:xfrm>
          <a:prstGeom prst="roundRect">
            <a:avLst>
              <a:gd name="adj" fmla="val 9375"/>
            </a:avLst>
          </a:prstGeom>
          <a:solidFill>
            <a:srgbClr val="F1EDF9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39496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训练阶段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57984" y="5385816"/>
            <a:ext cx="8833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完整地图只用来生成“正确答案”和教师提示；训练结束后全部移除。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deployment and training boundaries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ALGORITHM BLUEPRINT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算法蓝图：蒸馏、Kalman 与 Graph Wavelet 怎样进入决策链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 baseline 的图注意力 Actor 与离散 SAC；三项改进均对应明确的经典算法接口。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3246120" cy="2962656"/>
          </a:xfrm>
          <a:prstGeom prst="roundRect">
            <a:avLst>
              <a:gd name="adj" fmla="val 2469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75688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8483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00784" y="20848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特权蒸馏 + 异方差回归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914400" y="2752344"/>
            <a:ext cx="228600" cy="228600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20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261872" y="27432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rollout 构造 future-gain 标签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1028700" y="3008376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282696"/>
            <a:ext cx="228600" cy="228600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512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261872" y="32735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Teacher–Student 特权信息蒸馏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028700" y="3538728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813048"/>
            <a:ext cx="228600" cy="228600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8162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261872" y="38039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Gaussian NLL + RankNet 排序监督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77824" y="4407408"/>
            <a:ext cx="2807208" cy="256032"/>
          </a:xfrm>
          <a:prstGeom prst="roundRect">
            <a:avLst>
              <a:gd name="adj" fmla="val 35714"/>
            </a:avLst>
          </a:prstGeom>
          <a:solidFill>
            <a:srgbClr val="EAF4F8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462272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Head：均值 + 预测方差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60520" y="1847088"/>
            <a:ext cx="3246120" cy="2962656"/>
          </a:xfrm>
          <a:prstGeom prst="roundRect">
            <a:avLst>
              <a:gd name="adj" fmla="val 2469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9976" y="2075688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208483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 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02936" y="20848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 Kalman Filter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4416552" y="2752344"/>
            <a:ext cx="228600" cy="228600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552" y="2820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764024" y="27432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 输出作为 KF 观测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30852" y="3008376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3282696"/>
            <a:ext cx="228600" cy="228600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6552" y="33512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64024" y="32735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预测方差设 R，结构事件调 Q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530852" y="3538728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16552" y="3813048"/>
            <a:ext cx="228600" cy="228600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6552" y="388162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64024" y="38039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Kalman 更新；突变时重置 belief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379976" y="4407408"/>
            <a:ext cx="2807208" cy="256032"/>
          </a:xfrm>
          <a:prstGeom prst="roundRect">
            <a:avLst>
              <a:gd name="adj" fmla="val 35714"/>
            </a:avLst>
          </a:prstGeom>
          <a:solidFill>
            <a:srgbClr val="EAF4F8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4462272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状态：未来潜力 + 协方差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662672" y="1847088"/>
            <a:ext cx="3246120" cy="2962656"/>
          </a:xfrm>
          <a:prstGeom prst="roundRect">
            <a:avLst>
              <a:gd name="adj" fmla="val 2469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2128" y="2075688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18704" y="208483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 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705088" y="20848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Wavelet + DiffPool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7918704" y="2752344"/>
            <a:ext cx="228600" cy="228600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8704" y="28209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8266176" y="27432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随机游走小波分解：scale 1/2/4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8033004" y="3008376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18704" y="3282696"/>
            <a:ext cx="228600" cy="228600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18704" y="33512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266176" y="32735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低频进 DiffPool；高频保留局部细节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033004" y="3538728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18704" y="3813048"/>
            <a:ext cx="228600" cy="228600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18704" y="388162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8266176" y="38039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 选点并保留 A* 路径骨架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7882128" y="4407408"/>
            <a:ext cx="2807208" cy="256032"/>
          </a:xfrm>
          <a:prstGeom prst="roundRect">
            <a:avLst>
              <a:gd name="adj" fmla="val 35714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4462272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输出：区域 token + 动作节点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368" y="5175504"/>
            <a:ext cx="10661904" cy="658368"/>
          </a:xfrm>
          <a:prstGeom prst="roundRect">
            <a:avLst>
              <a:gd name="adj" fmla="val 8333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7824" y="53766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 Actor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1792224" y="5285232"/>
            <a:ext cx="194767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37944" y="5349240"/>
            <a:ext cx="1856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utility + KF belief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LF / HF + 几何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3936492" y="5422392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15968" y="5285232"/>
            <a:ext cx="177393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61688" y="5349240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 Graph Encoder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6286500" y="5422392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65976" y="5285232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11696" y="5349240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区域到局部的注意力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8709660" y="5422392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89136" y="5285232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A5C24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34856" y="534924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Pointer 选择可行邻居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algorithm blueprint; implementation choices remain to be validated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IMPROVEMENT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改进一：特权信息蒸馏 + 异方差图回归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rollout 构造 future-gain；Potential Head 用 Gaussian NLL 学潜力与预测方差，用 RankNet 学候选排序。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65376"/>
            <a:ext cx="3090672" cy="3767328"/>
          </a:xfrm>
          <a:prstGeom prst="roundRect">
            <a:avLst>
              <a:gd name="adj" fmla="val 2367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12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 A / Privileged Distillation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32688" y="2624328"/>
            <a:ext cx="237744" cy="23774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95651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335024" y="26060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冻结当前局部地图与候选图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1051560" y="2889504"/>
            <a:ext cx="0" cy="283464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209544"/>
            <a:ext cx="237744" cy="23774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80867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1335024" y="319125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地图上做有限视距 rollout，生成 future-gain 标签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1051560" y="3474720"/>
            <a:ext cx="0" cy="283464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794760"/>
            <a:ext cx="237744" cy="23774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66083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1335024" y="377647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Teacher / Student Graph Encoder 对齐潜力表征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1051560" y="4059936"/>
            <a:ext cx="0" cy="283464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379976"/>
            <a:ext cx="237744" cy="23774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451299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335024" y="43616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Gaussian NLL 回归 + RankNet 邻居排序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932688" y="5120640"/>
            <a:ext cx="2523744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29784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Head：均值 + log-variance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23360" y="1865376"/>
            <a:ext cx="3456432" cy="3255264"/>
          </a:xfrm>
          <a:prstGeom prst="roundRect">
            <a:avLst>
              <a:gd name="adj" fmla="val 2247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1104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候选点 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261104" y="253288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眼前 frontier 较多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297680" y="306324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EAF4F8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127248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当前位置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564124" y="3246120"/>
            <a:ext cx="164592" cy="164592"/>
          </a:xfrm>
          <a:prstGeom prst="chevron">
            <a:avLst/>
          </a:prstGeom>
          <a:solidFill>
            <a:srgbClr val="F49100"/>
          </a:solidFill>
          <a:ln w="1270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0176" y="3063240"/>
            <a:ext cx="1170432" cy="530352"/>
          </a:xfrm>
          <a:prstGeom prst="roundRect">
            <a:avLst>
              <a:gd name="adj" fmla="val 13793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3127248"/>
            <a:ext cx="1078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短走廊 / 尽头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4279392" y="40050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当前看起来好，后续空间少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297680" y="464515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只看当前信息容易被 A 吸引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7772400" y="1865376"/>
            <a:ext cx="3456432" cy="3255264"/>
          </a:xfrm>
          <a:prstGeom prst="roundRect">
            <a:avLst>
              <a:gd name="adj" fmla="val 2247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10144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候选点 B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010144" y="253288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眼前 frontier 中等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8046720" y="306324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EAF4F8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3127248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当前位置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313164" y="3246120"/>
            <a:ext cx="164592" cy="164592"/>
          </a:xfrm>
          <a:prstGeom prst="chevron">
            <a:avLst/>
          </a:prstGeom>
          <a:solidFill>
            <a:srgbClr val="0F6FC6"/>
          </a:solidFill>
          <a:ln w="1270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29216" y="3063240"/>
            <a:ext cx="1170432" cy="530352"/>
          </a:xfrm>
          <a:prstGeom prst="roundRect">
            <a:avLst>
              <a:gd name="adj" fmla="val 13793"/>
            </a:avLst>
          </a:prstGeom>
          <a:solidFill>
            <a:srgbClr val="EAF4F8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74936" y="3127248"/>
            <a:ext cx="1078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相连房间 / 新走廊</a:t>
            </a:r>
            <a:endParaRPr lang="en-US" sz="890" dirty="0"/>
          </a:p>
        </p:txBody>
      </p:sp>
      <p:sp>
        <p:nvSpPr>
          <p:cNvPr id="45" name="Text 43"/>
          <p:cNvSpPr/>
          <p:nvPr/>
        </p:nvSpPr>
        <p:spPr>
          <a:xfrm>
            <a:off x="8028432" y="40050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当前不突出，后续空间大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046720" y="464515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新方法更愿意保留并验证 B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4023360" y="5321808"/>
            <a:ext cx="7205472" cy="329184"/>
          </a:xfrm>
          <a:prstGeom prst="roundRect">
            <a:avLst>
              <a:gd name="adj" fmla="val 13889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61104" y="540410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联合目标：异方差 Gaussian NLL + RankNet 成对排序 + 特权蒸馏 + 离散 SAC。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distillation + heteroscedastic regression + RankNet, proposed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IMPROVEMENT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改进二：结构事件门控的自适应卡尔曼滤波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KF 状态是“未来潜力 belief”；Potential Head 是观测，预测方差设置 R，地图结构事件自适应调整 Q。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20240"/>
            <a:ext cx="2286000" cy="1426464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762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状态关联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59689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按位置、邻接关系和区域归属匹配前后时刻节点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118104" y="2551176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920240"/>
            <a:ext cx="2286000" cy="1426464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1762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KF 观测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66744" y="259689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 的潜力均值作为 z，预测方差作为 R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925312" y="2551176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920240"/>
            <a:ext cx="2286000" cy="1426464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1762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 Q / 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73952" y="259689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稳定时 Q 小；结构事件发生时提高 Q 或触发重置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732520" y="2551176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920240"/>
            <a:ext cx="2286000" cy="1426464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0160">
            <a:solidFill>
              <a:srgbClr val="009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1762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9D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Kalman 更新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81160" y="259689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 Kalman gain 融合先验与当前观测，输出 posterior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730752" y="3429000"/>
            <a:ext cx="4754880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3438144"/>
            <a:ext cx="4681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每个节点保存：KF state + covariance P + age + event flag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374904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9776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信息稳定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2103120" y="39776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过程噪声 Q 较小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77824" y="4407408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连续一致的观测逐步减小协方差，方向判断不易抖动。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0248" y="374904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9704" y="39776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新证据可信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715000" y="39776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观测噪声 R 较小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489704" y="4407408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Kalman gain 增大，策略更快跟随可靠的新潜力判断。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82128" y="374904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39776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结构发生变化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9326880" y="39776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提高 Q 或直接重置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101584" y="4407408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frontier 消失、边失效时迅速放弃已经过时的 belief。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" y="5504688"/>
            <a:ext cx="10588752" cy="365760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596128"/>
            <a:ext cx="10113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 Kalman Filter，但滤的是未来潜力 belief；raw utility 仍直接更新，不让滤波延迟掩盖真实 frontier 事件。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Event-gated Adaptive Kalman Filter on latent future potential, proposed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ong/code_docker/ros_ws/ARE/presentation/assets/upbg_value_aware_multiscale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TRAINING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完整地图只负责教学，机器人实际运行时只看局部地图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训练和部署分成两条独立通道，避免把“训练时知道答案”误解为“运行时偷看答案”。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65376"/>
            <a:ext cx="10863072" cy="1591056"/>
          </a:xfrm>
          <a:prstGeom prst="roundRect">
            <a:avLst>
              <a:gd name="adj" fmla="val 4598"/>
            </a:avLst>
          </a:prstGeom>
          <a:solidFill>
            <a:srgbClr val="F1EDF9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12140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05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训练阶段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48256" y="2240280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2304288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Teacher 生成标签与 LF/HF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048256" y="29077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future-gain rollout + Graph Wavelet 教师特征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709160" y="2441448"/>
            <a:ext cx="164592" cy="164592"/>
          </a:xfrm>
          <a:prstGeom prst="chevron">
            <a:avLst/>
          </a:prstGeom>
          <a:solidFill>
            <a:srgbClr val="628EE3"/>
          </a:solidFill>
          <a:ln w="12700">
            <a:solidFill>
              <a:srgbClr val="628EE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2240280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2304288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Student 联合学习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138928" y="29077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蒸馏 + Gaussian NLL + RankNet + SAC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799832" y="2441448"/>
            <a:ext cx="164592" cy="164592"/>
          </a:xfrm>
          <a:prstGeom prst="chevron">
            <a:avLst/>
          </a:prstGeom>
          <a:solidFill>
            <a:srgbClr val="628EE3"/>
          </a:solidFill>
          <a:ln w="12700">
            <a:solidFill>
              <a:srgbClr val="628EE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240280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304288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训练完成后移除教师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229600" y="290779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完整地图和教师网络都不进入部署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58368" y="3822192"/>
            <a:ext cx="10863072" cy="1591056"/>
          </a:xfrm>
          <a:prstGeom prst="roundRect">
            <a:avLst>
              <a:gd name="adj" fmla="val 4598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407822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08736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部署阶段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48256" y="4197096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93976" y="4261104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输入局部地图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2048256" y="486460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只使用机器人当下真实可见的信息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709160" y="4398264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197096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4261104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KF + Graph Wavelet 更新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5138928" y="486460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维护潜力 belief 并分解远近尺度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799832" y="4398264"/>
            <a:ext cx="164592" cy="16459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197096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261104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Pointer 输出下一航点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8229600" y="486460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在候选邻居中选择下一步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896112" y="5715000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一句话：完整地图是老师，不是机器人的额外传感器。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privileged information at deployment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DECISION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机器人走到一个路口时，整套方法怎样改变行为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把三个改进放回一次真实决策：它们不是并排工作的模块，而是连续完成同一次判断。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93392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A5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2688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7DA5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看见路口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局部地图给出 A、B 两个可行方向。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656332" y="3172968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993392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81528" y="2688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异方差预测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3081528" y="3154680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 判断 B 更可能连到新房间。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914900" y="3172968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1993392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0096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40096" y="2688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Kalman 更新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5340096" y="3154680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连续观测支持 B，且没有结构事件触发重置。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173468" y="3172968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97496" y="1993392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8664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98664" y="2688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Wavelet 重组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7598664" y="3154680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低频保留 B 的区域趋势，高频保留去 B 的局部路径。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432036" y="3172968"/>
            <a:ext cx="109728" cy="109728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56064" y="1993392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F9FB"/>
          </a:solidFill>
          <a:ln w="10160">
            <a:solidFill>
              <a:srgbClr val="A5C2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57232" y="222199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2231136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857232" y="2688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A5C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 B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9857232" y="3154680"/>
            <a:ext cx="1517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策略愿意接受适度路程，换取更大的长期发现。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58368" y="4809744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992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只看眼前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11680" y="494690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容易被 A 的高 frontier 吸引，进入尽头后再回退。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108192" y="4809744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4992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最终方法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61504" y="494690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 B 的长期潜力并验证可信度，更早作出非短视选择。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explanation of the unified method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METHOD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 baseline，真正改变的是“如何理解未知区域”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动作空间和强化学习主干可以保留；优化重点落在节点评价、时间记忆和空间组织方式。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1737360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6596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比较维度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395728" y="1847088"/>
            <a:ext cx="2670048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96596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Cao baseline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65776" y="1847088"/>
            <a:ext cx="3108960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9659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最终优化方法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74736" y="1847088"/>
            <a:ext cx="3273552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96596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预期行为变化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58368" y="2286000"/>
            <a:ext cx="17373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36829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节点评价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2395728" y="2286000"/>
            <a:ext cx="2670048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236829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重点使用当前 utility，长期价值主要由策略隐式学习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5065776" y="2286000"/>
            <a:ext cx="31089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236829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特权蒸馏 + 异方差 Potential Head + RankNet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8174736" y="2286000"/>
            <a:ext cx="3273552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368296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不再只追逐眼前最显眼的 frontier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58368" y="2944368"/>
            <a:ext cx="1737360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026664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时间信息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2395728" y="2944368"/>
            <a:ext cx="2670048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3026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每轮主要依据当前图快照重新决策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5065776" y="2944368"/>
            <a:ext cx="3108960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302666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结构事件门控的 Adaptive Kalman Filter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8174736" y="2944368"/>
            <a:ext cx="3273552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026664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减少方向反复切换和过时判断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658368" y="3602736"/>
            <a:ext cx="17373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368503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空间尺度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2395728" y="3602736"/>
            <a:ext cx="2670048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05456" y="368503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统一节点图配合固定规则控制规模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5065776" y="3602736"/>
            <a:ext cx="31089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368503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Random-Walk Graph Wavelet + DiffPool / Top-K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8174736" y="3602736"/>
            <a:ext cx="3273552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368503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地图变大后仍能兼顾远程方向与局部执行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658368" y="4261104"/>
            <a:ext cx="1737360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434340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训练信息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2395728" y="4261104"/>
            <a:ext cx="2670048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05456" y="43434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完整地图主要帮助 critic 更稳定地估值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5065776" y="4261104"/>
            <a:ext cx="3108960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75504" y="4343400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Teacher 蒸馏 future-gain 与 LF/HF 特征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8174736" y="4261104"/>
            <a:ext cx="3273552" cy="658368"/>
          </a:xfrm>
          <a:prstGeom prst="roundRect">
            <a:avLst>
              <a:gd name="adj" fmla="val 1389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84464" y="4343400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训练获得更密集提示，部署输入保持不变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658368" y="4919472"/>
            <a:ext cx="17373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" y="50017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动作取舍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2395728" y="4919472"/>
            <a:ext cx="2670048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05456" y="50017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由当前图表征和价值函数综合决定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5065776" y="4919472"/>
            <a:ext cx="3108960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5504" y="500176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LF-guided Attention + HF residual + Pointer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8174736" y="4919472"/>
            <a:ext cx="3273552" cy="658368"/>
          </a:xfrm>
          <a:prstGeom prst="roundRect">
            <a:avLst>
              <a:gd name="adj" fmla="val 1389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84464" y="500176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决策理由更清楚，也更容易做针对性消融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658368" y="5650992"/>
            <a:ext cx="10789920" cy="310896"/>
          </a:xfrm>
          <a:prstGeom prst="roundRect">
            <a:avLst>
              <a:gd name="adj" fmla="val 14706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" y="5733288"/>
            <a:ext cx="1031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不改变任务定义：仍是在局部地图上选择可行邻居作为下一导航点。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comparison; proposed items await experiments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CONTRIBUTIONS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论文贡献可以收敛为三点，共同回答一个问题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问题只有一个：怎样让机器人在只看见局部地图时，对未知区域作出更前瞻、更可信的判断。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20240"/>
            <a:ext cx="3255264" cy="3273552"/>
          </a:xfrm>
          <a:prstGeom prst="roundRect">
            <a:avLst>
              <a:gd name="adj" fmla="val 2247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17627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85416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6517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异方差潜力蒸馏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77824" y="3127248"/>
            <a:ext cx="277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GT rollout 构造 future-gain，Teacher–Student 蒸馏与 Gaussian NLL 学习潜力和预测方差，RankNet 学邻居排序。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877824" y="4407408"/>
            <a:ext cx="2779776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590288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验证重点：潜力误差、校准误差与候选排序质量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4215384" y="1920240"/>
            <a:ext cx="3255264" cy="3273552"/>
          </a:xfrm>
          <a:prstGeom prst="roundRect">
            <a:avLst>
              <a:gd name="adj" fmla="val 2247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17627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185416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34840" y="26517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事件门控自适应 KF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434840" y="3127248"/>
            <a:ext cx="277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以未来潜力为状态、Potential Head 为观测；用预测方差设置 R，用结构事件调 Q 或重置 posterior。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434840" y="4407408"/>
            <a:ext cx="2779776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4590288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验证重点：方向抖动、事件响应时间与 KF 消融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7772400" y="1920240"/>
            <a:ext cx="3255264" cy="3273552"/>
          </a:xfrm>
          <a:prstGeom prst="roundRect">
            <a:avLst>
              <a:gd name="adj" fmla="val 2247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91856" y="217627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185416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91856" y="26517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Graph Wavelet 多尺度图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991856" y="3127248"/>
            <a:ext cx="277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1/2/4-hop 图小波分离 LF/HF；DiffPool 形成区域 token，Top-K 与 A* 骨架保留高频细节和连通。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7991856" y="4407408"/>
            <a:ext cx="2779776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91856" y="4590288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验证重点：尺度扩展、节点预算和 LF/HF 消融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658368" y="5449824"/>
            <a:ext cx="10789920" cy="438912"/>
          </a:xfrm>
          <a:prstGeom prst="roundRect">
            <a:avLst>
              <a:gd name="adj" fmla="val 12500"/>
            </a:avLst>
          </a:prstGeom>
          <a:solidFill>
            <a:srgbClr val="E3F4E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568696"/>
            <a:ext cx="1031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61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统一假设：当未来潜力判断更准确、时间上更稳定、空间上更完整时，策略会更少短视、回退和重复运动。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paper contribution statement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VALIDATION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不是只比较最终模型，而是逐层回答每项改进是否有用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消融顺序与论文论点一一对应；任何一项没有独立证据，就不能把它写成核心贡献。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65376"/>
            <a:ext cx="5157216" cy="3730752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逐层消融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50976" y="2660904"/>
            <a:ext cx="237744" cy="237744"/>
          </a:xfrm>
          <a:prstGeom prst="ellipse">
            <a:avLst/>
          </a:prstGeom>
          <a:solidFill>
            <a:srgbClr val="7DA5CB"/>
          </a:solidFill>
          <a:ln w="1016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729484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353312" y="26517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7DA5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Cao baseline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255264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确定原始参照线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069848" y="2926080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182112"/>
            <a:ext cx="237744" cy="237744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250692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1353312" y="31729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Potential Head + RankNet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255264" y="3172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future-gain 与排序是否学得出来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069848" y="3447288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3703320"/>
            <a:ext cx="237744" cy="237744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771900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353312" y="36941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Adaptive Kalman Filter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255264" y="36941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验证稳定性与结构事件响应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069848" y="3968496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224528"/>
            <a:ext cx="237744" cy="237744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29310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353312" y="42153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Graph Wavelet / DiffPool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255264" y="4215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验证大地图下的 LF/HF 与节点预算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069848" y="4489704"/>
            <a:ext cx="0" cy="22860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4745736"/>
            <a:ext cx="237744" cy="237744"/>
          </a:xfrm>
          <a:prstGeom prst="ellipse">
            <a:avLst/>
          </a:prstGeom>
          <a:solidFill>
            <a:srgbClr val="628EE3"/>
          </a:solidFill>
          <a:ln w="10160">
            <a:solidFill>
              <a:srgbClr val="628EE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81431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353312" y="47365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完整方法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255264" y="4736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检查三项机制能否形成互补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53328" y="1865376"/>
            <a:ext cx="5468112" cy="3730752"/>
          </a:xfrm>
          <a:prstGeom prst="roundRect">
            <a:avLst>
              <a:gd name="adj" fmla="val 196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重点观察什么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345936" y="265176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预测是否靠谱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7845552" y="265176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高潜力节点能否稳定排在前面；可信度是否与误差相符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345936" y="3017520"/>
            <a:ext cx="4672584" cy="0"/>
          </a:xfrm>
          <a:prstGeom prst="line">
            <a:avLst/>
          </a:prstGeom>
          <a:noFill/>
          <a:ln w="6350">
            <a:solidFill>
              <a:srgbClr val="C7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172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路径是否更省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7845552" y="3172968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总路程、回退次数、重复经过的路段是否减少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345936" y="3538728"/>
            <a:ext cx="4672584" cy="0"/>
          </a:xfrm>
          <a:prstGeom prst="line">
            <a:avLst/>
          </a:prstGeom>
          <a:noFill/>
          <a:ln w="6350">
            <a:solidFill>
              <a:srgbClr val="C7D3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369417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行为是否更稳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7845552" y="369417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相邻方向来回切换、死胡同恢复和结构变化响应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345936" y="4059936"/>
            <a:ext cx="4672584" cy="0"/>
          </a:xfrm>
          <a:prstGeom prst="line">
            <a:avLst/>
          </a:prstGeom>
          <a:noFill/>
          <a:ln w="6350">
            <a:solidFill>
              <a:srgbClr val="C7D3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421538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地图变大是否扛得住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7845552" y="4215384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节点数量、规划耗时、内存和路径效率随规模的变化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45936" y="4581144"/>
            <a:ext cx="4672584" cy="0"/>
          </a:xfrm>
          <a:prstGeom prst="line">
            <a:avLst/>
          </a:prstGeom>
          <a:noFill/>
          <a:ln w="6350">
            <a:solidFill>
              <a:srgbClr val="C7D3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47365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13B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新环境是否还能用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7845552" y="4736592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未见过的室内布局、室外结构和传感器噪声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58368" y="5760720"/>
            <a:ext cx="10863072" cy="310896"/>
          </a:xfrm>
          <a:prstGeom prst="roundRect">
            <a:avLst>
              <a:gd name="adj" fmla="val 14706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" y="5843016"/>
            <a:ext cx="103875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公平比较：地图划分、训练预算、随机种子、传感器范围、动作空间和模型选择规则保持一致。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ablation and evaluation protocol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EXPECTED OUTCOMES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预期效果要落到机器人行为，而不是先写一个提升百分比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目前所有结论都是待验证假设；实验完成后再填真实均值、波动范围和显著性。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847088"/>
            <a:ext cx="1993392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6596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预期变化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670048" y="1847088"/>
            <a:ext cx="4736592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965960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机器人会表现成什么样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406640" y="1847088"/>
            <a:ext cx="4114800" cy="438912"/>
          </a:xfrm>
          <a:prstGeom prst="roundRect">
            <a:avLst>
              <a:gd name="adj" fmla="val 6250"/>
            </a:avLst>
          </a:prstGeom>
          <a:solidFill>
            <a:srgbClr val="04617B"/>
          </a:solidFill>
          <a:ln w="10160">
            <a:solidFill>
              <a:srgbClr val="0461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16368" y="196596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怎样判断是否真的发生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76656" y="2286000"/>
            <a:ext cx="1993392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9572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更前瞻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670048" y="2286000"/>
            <a:ext cx="4736592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239572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不容易被眼前 frontier 多但后续贫乏的方向吸引；更早选择能打开新区域的入口。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4114800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2395728"/>
            <a:ext cx="3858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回退、重复路段和进入死胡同后的补救路程减少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76656" y="3108960"/>
            <a:ext cx="1993392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1868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更稳定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670048" y="3108960"/>
            <a:ext cx="4736592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32186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单帧预测抖动时不频繁换方向；通路或 frontier 真正变化时又能及时改判。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406640" y="3108960"/>
            <a:ext cx="4114800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4656" y="3218688"/>
            <a:ext cx="3858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方向切换次数下降，结构变化后的恢复更快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76656" y="3931920"/>
            <a:ext cx="1993392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04164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更适合大地图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2670048" y="3931920"/>
            <a:ext cx="4736592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404164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远处有值得去的区域时不会因图压缩被完全丢掉，近处动作仍然可执行。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406640" y="3931920"/>
            <a:ext cx="4114800" cy="822960"/>
          </a:xfrm>
          <a:prstGeom prst="roundRect">
            <a:avLst>
              <a:gd name="adj" fmla="val 1111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34656" y="4041648"/>
            <a:ext cx="3858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地图扩大后路径效率下降更慢，规划开销保持可控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76656" y="4754880"/>
            <a:ext cx="1993392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86460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更容易泛化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2670048" y="4754880"/>
            <a:ext cx="4736592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486460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遇到训练中少见的布局时，仍能依靠“后续可能打开什么”作出合理选择。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406640" y="4754880"/>
            <a:ext cx="4114800" cy="822960"/>
          </a:xfrm>
          <a:prstGeom prst="roundRect">
            <a:avLst>
              <a:gd name="adj" fmla="val 1111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4864608"/>
            <a:ext cx="3858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新布局和室外场景中的成功率、路径表现更稳定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76656" y="5742432"/>
            <a:ext cx="10844784" cy="310896"/>
          </a:xfrm>
          <a:prstGeom prst="roundRect">
            <a:avLst>
              <a:gd name="adj" fmla="val 14706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824728"/>
            <a:ext cx="10369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关键验收：提升应来自更好的未知区域判断，而不是更大网络、额外部署信息或不公平训练预算。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are hypotheses, not completed findings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按科学风险推进：先证明“未来潜力”值得学，再扩展完整方法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每一阶段都设置停止条件，避免在核心假设尚未成立时继续堆叠复杂度。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066544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32257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3317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定义教学答案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218688"/>
            <a:ext cx="2029968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38144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明确“从候选点继续走能发现什么”，抽查典型房间、走廊和死胡同案例。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32688" y="44988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产出：标签分布与可视化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293440" y="3398596"/>
            <a:ext cx="115672" cy="11567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066544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232257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3317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39896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蒸馏 Potential Head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39896" y="3218688"/>
            <a:ext cx="2029968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3438144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Gaussian NLL 与 RankNet，先验证潜力、预测方差和候选排序。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739896" y="44988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产出：单项消融结果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100648" y="3398596"/>
            <a:ext cx="115672" cy="11567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066544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232257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 w="10160">
            <a:solidFill>
              <a:srgbClr val="FFF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3317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47104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 KF 与 Wavelet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47104" y="3218688"/>
            <a:ext cx="2029968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3438144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分别测试 Adaptive KF、Graph Wavelet 和 DiffPool，定位各自作用。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547104" y="44988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产出：两组独立消融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8907856" y="3398596"/>
            <a:ext cx="115672" cy="115672"/>
          </a:xfrm>
          <a:prstGeom prst="chevron">
            <a:avLst/>
          </a:prstGeom>
          <a:solidFill>
            <a:srgbClr val="7DA5CB"/>
          </a:solidFill>
          <a:ln w="12700">
            <a:solidFill>
              <a:srgbClr val="7DA5C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34856" y="2066544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7F9FB"/>
          </a:solidFill>
          <a:ln w="10160">
            <a:solidFill>
              <a:srgbClr val="628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54312" y="232257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0160">
            <a:solidFill>
              <a:srgbClr val="EA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90888" y="23317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354312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完成论文闭环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354312" y="3218688"/>
            <a:ext cx="2029968" cy="0"/>
          </a:xfrm>
          <a:prstGeom prst="line">
            <a:avLst/>
          </a:prstGeom>
          <a:noFill/>
          <a:ln w="8890">
            <a:solidFill>
              <a:srgbClr val="C7D3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3438144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运行完整方法、规模测试与新环境测试，补充复杂度、失败案例和统计检验。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354312" y="44988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28E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产出：论文主实验与初稿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13232" y="5285232"/>
            <a:ext cx="10890504" cy="493776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 w="10160">
            <a:solidFill>
              <a:srgbClr val="7DA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5413248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关键决策点：如果未来潜力预测不能稳定改善节点排序，就先修正教学答案与监督方式，不继续增加时序和多尺度复杂度。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Risk-ordered research roadmap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585216"/>
            <a:ext cx="50292" cy="457200"/>
          </a:xfrm>
          <a:prstGeom prst="roundRect">
            <a:avLst>
              <a:gd name="adj" fmla="val 18182"/>
            </a:avLst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1042416"/>
            <a:ext cx="50292" cy="91440"/>
          </a:xfrm>
          <a:prstGeom prst="roundRect">
            <a:avLst>
              <a:gd name="adj" fmla="val 18182"/>
            </a:avLst>
          </a:prstGeom>
          <a:solidFill>
            <a:srgbClr val="10CF9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REFERENCES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论文依据与具体算法落点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 界定任务主干；蒸馏、异方差回归、Kalman Filter 与 Graph Wavelet 支撑三项改进。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847088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842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26464" y="1938528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ICRA 2023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352544" y="1920240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ARiADNE：图注意力策略、离散 SAC 与非短视探索；论文展望提出潜在收益预测。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76656" y="2450592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87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C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26464" y="25420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al., IEEE RA-L 2024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352544" y="2523744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大规模探索：privileged critic、图稀疏化、小场景到大场景迁移及真实机器人验证。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76656" y="3054096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1912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Kendall &amp; Gal, NeurIPS 2017; Burges et al., 2005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352544" y="3127248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异方差 Gaussian NLL 学预测方差；RankNet 式成对排序直接监督候选节点顺序。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76656" y="3657600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94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26464" y="37490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Kalman, ASME 1960; Mehra, IEEE TAC 1970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352544" y="3730752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Kalman Filter 递推状态与协方差；自适应噪声估计支持根据预测方差和结构事件调整 R 与 Q。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76656" y="4261104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3982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8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26464" y="43525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Hammond et al., 2011; Ying et al., 2018; Gao &amp; Ji, 2019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352544" y="4334256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Graph Wavelet 分离多尺度信号；DiffPool 形成区域 token；Graph U-Nets 提供 Top-K pooling 依据。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76656" y="4864608"/>
            <a:ext cx="10844784" cy="493776"/>
          </a:xfrm>
          <a:prstGeom prst="roundRect">
            <a:avLst>
              <a:gd name="adj" fmla="val 7407"/>
            </a:avLst>
          </a:prstGeom>
          <a:solidFill>
            <a:srgbClr val="EAF4F8"/>
          </a:solidFill>
          <a:ln w="10160">
            <a:solidFill>
              <a:srgbClr val="C7D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0017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5C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26464" y="4956048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A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Hinton et al., 2015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4352544" y="4937760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特权信息蒸馏：训练期 GT Teacher 提供 future-gain 与 LF/HF 教师特征，部署只保留 Student。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76656" y="5650992"/>
            <a:ext cx="10844784" cy="365760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42432"/>
            <a:ext cx="10369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边界说明：baseline 数字来自已发表论文；UPBG-RL 页面描述的是研究计划，尚未宣称实验提升。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62453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 for the proposed paper direction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13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1243584"/>
            <a:ext cx="12191695" cy="1225296"/>
          </a:xfrm>
          <a:prstGeom prst="roundRect">
            <a:avLst/>
          </a:prstGeom>
          <a:solidFill>
            <a:srgbClr val="0F6FC6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361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从“眼前哪里有 frontier”，升级到“哪条路更可能打开新空间”。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UPBG-RL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" y="2852928"/>
            <a:ext cx="10689336" cy="0"/>
          </a:xfrm>
          <a:prstGeom prst="line">
            <a:avLst/>
          </a:prstGeom>
          <a:noFill/>
          <a:ln w="10160">
            <a:solidFill>
              <a:srgbClr val="C7D3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163824"/>
            <a:ext cx="3182112" cy="1481328"/>
          </a:xfrm>
          <a:prstGeom prst="roundRect">
            <a:avLst>
              <a:gd name="adj" fmla="val 4938"/>
            </a:avLst>
          </a:prstGeom>
          <a:solidFill>
            <a:srgbClr val="F7F9FB"/>
          </a:solidFill>
          <a:ln w="10160">
            <a:solidFill>
              <a:srgbClr val="0F6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3429000"/>
            <a:ext cx="182880" cy="182880"/>
          </a:xfrm>
          <a:prstGeom prst="ellipse">
            <a:avLst/>
          </a:prstGeom>
          <a:solidFill>
            <a:srgbClr val="0F6FC6"/>
          </a:solidFill>
          <a:ln w="10160">
            <a:solidFill>
              <a:srgbClr val="0F6FC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看得更远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932688" y="38039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预测候选方向后面可能打开的新空间，不只比较当前 frontier。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389120" y="3163824"/>
            <a:ext cx="3182112" cy="1481328"/>
          </a:xfrm>
          <a:prstGeom prst="roundRect">
            <a:avLst>
              <a:gd name="adj" fmla="val 4938"/>
            </a:avLst>
          </a:prstGeom>
          <a:solidFill>
            <a:srgbClr val="F7F9FB"/>
          </a:solidFill>
          <a:ln w="10160">
            <a:solidFill>
              <a:srgbClr val="10CF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3429000"/>
            <a:ext cx="182880" cy="182880"/>
          </a:xfrm>
          <a:prstGeom prst="ellipse">
            <a:avLst/>
          </a:prstGeom>
          <a:solidFill>
            <a:srgbClr val="10CF9B"/>
          </a:solidFill>
          <a:ln w="10160">
            <a:solidFill>
              <a:srgbClr val="10CF9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CF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判断更可信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608576" y="38039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连续积累证据；预测不可靠时谨慎，结构变化时及时重估。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65008" y="3163824"/>
            <a:ext cx="3182112" cy="1481328"/>
          </a:xfrm>
          <a:prstGeom prst="roundRect">
            <a:avLst>
              <a:gd name="adj" fmla="val 4938"/>
            </a:avLst>
          </a:prstGeom>
          <a:solidFill>
            <a:srgbClr val="F7F9FB"/>
          </a:solidFill>
          <a:ln w="10160">
            <a:solidFill>
              <a:srgbClr val="F49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3429000"/>
            <a:ext cx="182880" cy="182880"/>
          </a:xfrm>
          <a:prstGeom prst="ellipse">
            <a:avLst/>
          </a:prstGeom>
          <a:solidFill>
            <a:srgbClr val="F49100"/>
          </a:solidFill>
          <a:ln w="10160">
            <a:solidFill>
              <a:srgbClr val="F491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远近都兼顾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284464" y="38039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61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区域级方向负责长期规划，局部 frontier 和通路负责下一步执行。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13232" y="5175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F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一句话总结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38528" y="5129784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C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最终方法把未来潜力、时序可信度和多尺度图组织成同一条决策链，目标是减少短视选择、回退和重复运动。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5870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 / Q&amp;A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F6F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UPBG-RL：论文改进计划</dc:title>
  <dc:subject>面向大规模自主探索的不确定性感知预测信念图强化学习</dc:subject>
  <dc:creator>宋恩圣</dc:creator>
  <cp:lastModifiedBy>宋恩圣</cp:lastModifiedBy>
  <cp:revision>1</cp:revision>
  <dcterms:created xsi:type="dcterms:W3CDTF">2026-08-20T10:16:39Z</dcterms:created>
  <dcterms:modified xsi:type="dcterms:W3CDTF">2026-08-20T10:16:39Z</dcterms:modified>
</cp:coreProperties>
</file>