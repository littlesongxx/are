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69" r:id="rId4"/>
  </p:sldMasterIdLst>
  <p:notesMasterIdLst>
    <p:notesMasterId r:id="rId6"/>
  </p:notesMasterIdLst>
  <p:sldIdLst>
    <p:sldId id="256" r:id="rId5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268" r:id="rId18"/>
  </p:sldIdLst>
  <p:sldSz cx="12192000" cy="6858000"/>
  <p:notesSz cx="7103745" cy="10234295"/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744" userDrawn="1">
          <p15:clr>
            <a:srgbClr val="A4A3A4"/>
          </p15:clr>
        </p15:guide>
        <p15:guide id="2" orient="horz" pos="222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uSisi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FF"/>
    <a:srgbClr val="E7EBF5"/>
    <a:srgbClr val="E3E7E7"/>
    <a:srgbClr val="0099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6" y="96"/>
      </p:cViewPr>
      <p:guideLst>
        <p:guide pos="3744"/>
        <p:guide orient="horz" pos="222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56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49257" name="日期占位符 2"/>
          <p:cNvSpPr>
            <a:spLocks noGrp="1"/>
          </p:cNvSpPr>
          <p:nvPr>
            <p:ph type="dt" idx="1"/>
          </p:nvPr>
        </p:nvSpPr>
        <p:spPr bwMode="auto"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2A48B96-639E-45A3-A0BA-2464DFDB1FAA}" type="datetimeFigureOut">
              <a:rPr lang="zh-CN" altLang="en-US"/>
            </a:fld>
            <a:endParaRPr lang="zh-CN"/>
          </a:p>
        </p:txBody>
      </p:sp>
      <p:sp>
        <p:nvSpPr>
          <p:cNvPr id="1049258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1049259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49260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49261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6837353-30EB-4A48-80EB-173D804AEFBD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89" name="幻灯片图像占位符 1"/>
          <p:cNvSpPr>
            <a:spLocks noGrp="1" noRot="1" noChangeAspect="1"/>
          </p:cNvSpPr>
          <p:nvPr>
            <p:ph type="sldImg" idx="2"/>
          </p:nvPr>
        </p:nvSpPr>
        <p:spPr bwMode="auto"/>
      </p:sp>
      <p:sp>
        <p:nvSpPr>
          <p:cNvPr id="1048590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38" name="幻灯片图像占位符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</p:spPr>
      </p:sp>
      <p:sp>
        <p:nvSpPr>
          <p:cNvPr id="1048839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38" name="幻灯片图像占位符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</p:spPr>
      </p:sp>
      <p:sp>
        <p:nvSpPr>
          <p:cNvPr id="1048839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38" name="幻灯片图像占位符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</p:spPr>
      </p:sp>
      <p:sp>
        <p:nvSpPr>
          <p:cNvPr id="1048839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38" name="幻灯片图像占位符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</p:spPr>
      </p:sp>
      <p:sp>
        <p:nvSpPr>
          <p:cNvPr id="1048839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38" name="幻灯片图像占位符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</p:spPr>
      </p:sp>
      <p:sp>
        <p:nvSpPr>
          <p:cNvPr id="1048839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38" name="幻灯片图像占位符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</p:spPr>
      </p:sp>
      <p:sp>
        <p:nvSpPr>
          <p:cNvPr id="1048839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38" name="幻灯片图像占位符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</p:spPr>
      </p:sp>
      <p:sp>
        <p:nvSpPr>
          <p:cNvPr id="1048839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38" name="幻灯片图像占位符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</p:spPr>
      </p:sp>
      <p:sp>
        <p:nvSpPr>
          <p:cNvPr id="1048839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38" name="幻灯片图像占位符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</p:spPr>
      </p:sp>
      <p:sp>
        <p:nvSpPr>
          <p:cNvPr id="1048839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38" name="幻灯片图像占位符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</p:spPr>
      </p:sp>
      <p:sp>
        <p:nvSpPr>
          <p:cNvPr id="1048839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838" name="幻灯片图像占位符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81013" y="1279525"/>
            <a:ext cx="6140450" cy="3454399"/>
          </a:xfrm>
        </p:spPr>
      </p:sp>
      <p:sp>
        <p:nvSpPr>
          <p:cNvPr id="1048839" name="文本占位符 2"/>
          <p:cNvSpPr>
            <a:spLocks noGrp="1"/>
          </p:cNvSpPr>
          <p:nvPr>
            <p:ph type="body" idx="3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BC87C8-6682-318D-3247-4E63A58BB62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91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F288E0-7875-42C4-84C8-98DBBD3BF4D2}" type="datetimeFigureOut">
              <a:rPr lang="zh-CN" altLang="en-US"/>
            </a:fld>
            <a:endParaRPr lang="zh-CN"/>
          </a:p>
        </p:txBody>
      </p:sp>
      <p:sp>
        <p:nvSpPr>
          <p:cNvPr id="1048592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48593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9BB5D0-35E4-459D-AEF3-FE4D7C45CC19}" type="slidenum">
              <a:rPr lang="zh-CN"/>
            </a:fld>
            <a:endParaRPr lang="zh-CN"/>
          </a:p>
        </p:txBody>
      </p:sp>
      <p:pic>
        <p:nvPicPr>
          <p:cNvPr id="2097153" name="图片 22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34950" t="5396" r="31092" b="48484"/>
          <a:stretch>
            <a:fillRect/>
          </a:stretch>
        </p:blipFill>
        <p:spPr bwMode="auto">
          <a:xfrm>
            <a:off x="9432289" y="14605"/>
            <a:ext cx="790575" cy="768350"/>
          </a:xfrm>
          <a:prstGeom prst="rect">
            <a:avLst/>
          </a:prstGeom>
          <a:noFill/>
          <a:ln w="9525">
            <a:noFill/>
          </a:ln>
          <a:effectLst>
            <a:glow rad="76200">
              <a:schemeClr val="accent1">
                <a:alpha val="20000"/>
              </a:schemeClr>
            </a:glow>
          </a:effectLst>
        </p:spPr>
      </p:pic>
      <p:pic>
        <p:nvPicPr>
          <p:cNvPr id="2097154" name="图片 23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51927"/>
          <a:stretch>
            <a:fillRect/>
          </a:stretch>
        </p:blipFill>
        <p:spPr bwMode="auto">
          <a:xfrm>
            <a:off x="10222865" y="90805"/>
            <a:ext cx="1790700" cy="615950"/>
          </a:xfrm>
          <a:prstGeom prst="rect">
            <a:avLst/>
          </a:prstGeom>
          <a:noFill/>
          <a:ln w="9525">
            <a:noFill/>
          </a:ln>
          <a:effectLst>
            <a:glow rad="76200">
              <a:schemeClr val="accent1">
                <a:alpha val="20000"/>
              </a:schemeClr>
            </a:glo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8582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F288E0-7875-42C4-84C8-98DBBD3BF4D2}" type="datetimeFigureOut">
              <a:rPr lang="zh-CN" altLang="en-US"/>
            </a:fld>
            <a:endParaRPr lang="zh-CN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9BB5D0-35E4-459D-AEF3-FE4D7C45CC1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20" name="标题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922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049222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F288E0-7875-42C4-84C8-98DBBD3BF4D2}" type="datetimeFigureOut">
              <a:rPr lang="zh-CN" altLang="en-US"/>
            </a:fld>
            <a:endParaRPr lang="zh-CN"/>
          </a:p>
        </p:txBody>
      </p:sp>
      <p:sp>
        <p:nvSpPr>
          <p:cNvPr id="1049223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49224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9BB5D0-35E4-459D-AEF3-FE4D7C45CC1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25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9226" name="内容占位符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49227" name="内容占位符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49228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F288E0-7875-42C4-84C8-98DBBD3BF4D2}" type="datetimeFigureOut">
              <a:rPr lang="zh-CN" altLang="en-US"/>
            </a:fld>
            <a:endParaRPr lang="zh-CN"/>
          </a:p>
        </p:txBody>
      </p:sp>
      <p:sp>
        <p:nvSpPr>
          <p:cNvPr id="1049229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49230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9BB5D0-35E4-459D-AEF3-FE4D7C45CC1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31" name="标题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923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049233" name="内容占位符 3"/>
          <p:cNvSpPr>
            <a:spLocks noGrp="1"/>
          </p:cNvSpPr>
          <p:nvPr>
            <p:ph sz="half" idx="2"/>
          </p:nvPr>
        </p:nvSpPr>
        <p:spPr bwMode="auto">
          <a:xfrm>
            <a:off x="1186774" y="2665379"/>
            <a:ext cx="4873574" cy="3524283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49234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049235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256938" y="2665379"/>
            <a:ext cx="4897576" cy="3524283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49236" name="日期占位符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F288E0-7875-42C4-84C8-98DBBD3BF4D2}" type="datetimeFigureOut">
              <a:rPr lang="zh-CN" altLang="en-US"/>
            </a:fld>
            <a:endParaRPr lang="zh-CN"/>
          </a:p>
        </p:txBody>
      </p:sp>
      <p:sp>
        <p:nvSpPr>
          <p:cNvPr id="1049237" name="页脚占位符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49238" name="灯片编号占位符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9BB5D0-35E4-459D-AEF3-FE4D7C45CC1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07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9208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F288E0-7875-42C4-84C8-98DBBD3BF4D2}" type="datetimeFigureOut">
              <a:rPr lang="zh-CN" altLang="en-US"/>
            </a:fld>
            <a:endParaRPr lang="zh-CN"/>
          </a:p>
        </p:txBody>
      </p:sp>
      <p:sp>
        <p:nvSpPr>
          <p:cNvPr id="1049209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49210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9BB5D0-35E4-459D-AEF3-FE4D7C45CC1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39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F288E0-7875-42C4-84C8-98DBBD3BF4D2}" type="datetimeFigureOut">
              <a:rPr lang="zh-CN" altLang="en-US"/>
            </a:fld>
            <a:endParaRPr lang="zh-CN"/>
          </a:p>
        </p:txBody>
      </p:sp>
      <p:sp>
        <p:nvSpPr>
          <p:cNvPr id="1049240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49241" name="灯片编号占位符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9BB5D0-35E4-459D-AEF3-FE4D7C45CC1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PhAnim="0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42" name="标题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9243" name="图片占位符 2"/>
          <p:cNvSpPr>
            <a:spLocks noGrp="1"/>
          </p:cNvSpPr>
          <p:nvPr>
            <p:ph type="pic" idx="1"/>
          </p:nvPr>
        </p:nvSpPr>
        <p:spPr bwMode="auto"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zh-CN"/>
          </a:p>
        </p:txBody>
      </p:sp>
      <p:sp>
        <p:nvSpPr>
          <p:cNvPr id="1049244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049245" name="日期占位符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F288E0-7875-42C4-84C8-98DBBD3BF4D2}" type="datetimeFigureOut">
              <a:rPr lang="zh-CN" altLang="en-US"/>
            </a:fld>
            <a:endParaRPr lang="zh-CN"/>
          </a:p>
        </p:txBody>
      </p:sp>
      <p:sp>
        <p:nvSpPr>
          <p:cNvPr id="1049246" name="页脚占位符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49247" name="灯片编号占位符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9BB5D0-35E4-459D-AEF3-FE4D7C45CC1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userDrawn="1">
  <p:cSld name="竖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11" name="竖排标题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9212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49213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F288E0-7875-42C4-84C8-98DBBD3BF4D2}" type="datetimeFigureOut">
              <a:rPr lang="zh-CN" altLang="en-US"/>
            </a:fld>
            <a:endParaRPr lang="zh-CN"/>
          </a:p>
        </p:txBody>
      </p:sp>
      <p:sp>
        <p:nvSpPr>
          <p:cNvPr id="1049214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49215" name="灯片编号占位符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9BB5D0-35E4-459D-AEF3-FE4D7C45CC1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PhAnim="0" userDrawn="1">
  <p:cSld name="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16" name="内容占位符 1"/>
          <p:cNvSpPr>
            <a:spLocks noGrp="1"/>
          </p:cNvSpPr>
          <p:nvPr>
            <p:ph/>
          </p:nvPr>
        </p:nvSpPr>
        <p:spPr bwMode="auto">
          <a:xfrm>
            <a:off x="838200" y="365125"/>
            <a:ext cx="10515600" cy="5811838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49217" name="日期占位符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2F288E0-7875-42C4-84C8-98DBBD3BF4D2}" type="datetimeFigureOut">
              <a:rPr lang="zh-CN" altLang="en-US"/>
            </a:fld>
            <a:endParaRPr lang="zh-CN"/>
          </a:p>
        </p:txBody>
      </p:sp>
      <p:sp>
        <p:nvSpPr>
          <p:cNvPr id="1049218" name="页脚占位符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49219" name="灯片编号占位符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7D9BB5D0-35E4-459D-AEF3-FE4D7C45CC19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195" name="标题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9196" name="副标题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193" name="标题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9194" name="内容占位符 2"/>
          <p:cNvSpPr>
            <a:spLocks noGrp="1"/>
          </p:cNvSpPr>
          <p:nvPr>
            <p:ph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191" name="标题 1"/>
          <p:cNvSpPr>
            <a:spLocks noGrp="1"/>
          </p:cNvSpPr>
          <p:nvPr>
            <p:ph type="title"/>
          </p:nvPr>
        </p:nvSpPr>
        <p:spPr bwMode="auto"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919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02" name="标题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9203" name="内容占位符 2"/>
          <p:cNvSpPr>
            <a:spLocks noGrp="1"/>
          </p:cNvSpPr>
          <p:nvPr>
            <p:ph sz="half" idx="1"/>
          </p:nvPr>
        </p:nvSpPr>
        <p:spPr bwMode="auto"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49204" name="内容占位符 3"/>
          <p:cNvSpPr>
            <a:spLocks noGrp="1"/>
          </p:cNvSpPr>
          <p:nvPr>
            <p:ph sz="half" idx="2"/>
          </p:nvPr>
        </p:nvSpPr>
        <p:spPr bwMode="auto"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197" name="标题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919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049199" name="内容占位符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49200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193368" y="1535113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1049201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06" name="标题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_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内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05" name="矩形 2"/>
          <p:cNvSpPr/>
          <p:nvPr/>
        </p:nvSpPr>
        <p:spPr bwMode="auto">
          <a:xfrm>
            <a:off x="-143933" y="-220133"/>
            <a:ext cx="13728700" cy="7298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2400" b="0" i="0" u="none" strike="noStrike" cap="none" spc="0">
              <a:ln>
                <a:noFill/>
              </a:ln>
              <a:solidFill>
                <a:schemeClr val="lt1"/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53" name="Text Box 8"/>
          <p:cNvSpPr txBox="1"/>
          <p:nvPr/>
        </p:nvSpPr>
        <p:spPr bwMode="auto">
          <a:xfrm>
            <a:off x="-143933" y="6538913"/>
            <a:ext cx="2429907" cy="370205"/>
          </a:xfrm>
          <a:prstGeom prst="rect">
            <a:avLst/>
          </a:prstGeom>
          <a:noFill/>
          <a:ln w="9525">
            <a:noFill/>
          </a:ln>
        </p:spPr>
        <p:txBody>
          <a:bodyPr wrap="square" lIns="120000" tIns="62400" rIns="120000" bIns="62400" anchor="t">
            <a:spAutoFit/>
          </a:bodyPr>
          <a:lstStyle/>
          <a:p>
            <a:pPr marL="342900" lvl="0" indent="-342900" defTabSz="914400">
              <a:spcBef>
                <a:spcPts val="0"/>
              </a:spcBef>
              <a:buFont typeface="宋体" panose="02010600030101010101" pitchFamily="2" charset="-122"/>
              <a:buNone/>
              <a:defRPr/>
            </a:pPr>
            <a:r>
              <a:rPr lang="en-US" sz="1600" i="1">
                <a:latin typeface="黑体" panose="02010609060101010101" charset="-122"/>
                <a:ea typeface="隶书" panose="02010509060101010101" charset="-122"/>
              </a:rPr>
              <a:t>【</a:t>
            </a:r>
            <a:r>
              <a:rPr lang="zh-CN" sz="1600" i="1">
                <a:latin typeface="黑体" panose="02010609060101010101" charset="-122"/>
                <a:ea typeface="隶书" panose="02010509060101010101" charset="-122"/>
              </a:rPr>
              <a:t>目标</a:t>
            </a:r>
            <a:r>
              <a:rPr lang="zh-CN" sz="1600" i="1">
                <a:ea typeface="隶书" panose="02010509060101010101" charset="-122"/>
              </a:rPr>
              <a:t>＆</a:t>
            </a:r>
            <a:r>
              <a:rPr lang="zh-CN" sz="1600" i="1">
                <a:latin typeface="黑体" panose="02010609060101010101" charset="-122"/>
                <a:ea typeface="隶书" panose="02010509060101010101" charset="-122"/>
              </a:rPr>
              <a:t>计划</a:t>
            </a:r>
            <a:r>
              <a:rPr lang="zh-CN" sz="1600" i="1">
                <a:ea typeface="隶书" panose="02010509060101010101" charset="-122"/>
              </a:rPr>
              <a:t>＆</a:t>
            </a:r>
            <a:r>
              <a:rPr lang="zh-CN" sz="1600" i="1">
                <a:latin typeface="黑体" panose="02010609060101010101" charset="-122"/>
                <a:ea typeface="隶书" panose="02010509060101010101" charset="-122"/>
              </a:rPr>
              <a:t>时间</a:t>
            </a:r>
            <a:r>
              <a:rPr lang="en-US" sz="1600" i="1">
                <a:latin typeface="黑体" panose="02010609060101010101" charset="-122"/>
                <a:ea typeface="隶书" panose="02010509060101010101" charset="-122"/>
              </a:rPr>
              <a:t>】</a:t>
            </a:r>
            <a:endParaRPr lang="en-US" sz="1600" i="1">
              <a:latin typeface="黑体" panose="02010609060101010101" charset="-122"/>
              <a:ea typeface="隶书" panose="02010509060101010101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54" name="标题 1"/>
          <p:cNvSpPr>
            <a:spLocks noGrp="1"/>
          </p:cNvSpPr>
          <p:nvPr>
            <p:ph type="ctrTitle"/>
          </p:nvPr>
        </p:nvSpPr>
        <p:spPr bwMode="auto"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 strike="noStrike"/>
              <a:t>单击此处编辑母版标题样式</a:t>
            </a:r>
            <a:endParaRPr lang="zh-CN" strike="noStrike"/>
          </a:p>
        </p:txBody>
      </p:sp>
      <p:sp>
        <p:nvSpPr>
          <p:cNvPr id="1049255" name="副标题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>
              <a:defRPr/>
            </a:pPr>
            <a:r>
              <a:rPr lang="zh-CN" strike="noStrike"/>
              <a:t>单击此处编辑母版副标题样式</a:t>
            </a:r>
            <a:endParaRPr lang="zh-CN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3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65" name="Picture 2" descr="C:\Users\lenovo\Desktop\图片1 拷贝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7938"/>
            <a:ext cx="12206817" cy="6850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9249" name="TextBox 7"/>
          <p:cNvSpPr txBox="1">
            <a:spLocks noChangeArrowheads="1"/>
          </p:cNvSpPr>
          <p:nvPr/>
        </p:nvSpPr>
        <p:spPr bwMode="auto">
          <a:xfrm>
            <a:off x="0" y="6416675"/>
            <a:ext cx="4476751" cy="4603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2400" b="0" i="0" u="none" strike="noStrike" cap="none" spc="0">
                <a:ln>
                  <a:noFill/>
                </a:ln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创新  实干    求变  诚信</a:t>
            </a:r>
            <a:endParaRPr lang="zh-CN" sz="2400" b="0" i="0" u="none" strike="noStrike" cap="none" spc="0">
              <a:ln>
                <a:noFill/>
              </a:ln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3145786" name="直接连接符 3"/>
          <p:cNvCxnSpPr/>
          <p:nvPr/>
        </p:nvCxnSpPr>
        <p:spPr bwMode="auto">
          <a:xfrm flipV="1">
            <a:off x="-28" y="714356"/>
            <a:ext cx="12192000" cy="1"/>
          </a:xfrm>
          <a:prstGeom prst="line">
            <a:avLst/>
          </a:prstGeom>
          <a:ln>
            <a:solidFill>
              <a:srgbClr val="C00000"/>
            </a:solidFill>
          </a:ln>
          <a:effectLst>
            <a:outerShdw blurRad="40000" dist="23000" dir="5400000" rotWithShape="0">
              <a:srgbClr val="000000">
                <a:alpha val="35000"/>
              </a:srgbClr>
            </a:outerShdw>
            <a:softEdge rad="12700"/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097166" name="Picture 7" descr="03公司标识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9810751" y="161925"/>
            <a:ext cx="1714500" cy="9096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67" name="Picture 2" descr="C:\Users\lenovo\Desktop\未标题-1.png"/>
          <p:cNvPicPr>
            <a:picLocks noChangeAspect="1"/>
          </p:cNvPicPr>
          <p:nvPr userDrawn="1"/>
        </p:nvPicPr>
        <p:blipFill>
          <a:blip r:embed="rId4"/>
          <a:srcRect b="27105"/>
          <a:stretch>
            <a:fillRect/>
          </a:stretch>
        </p:blipFill>
        <p:spPr bwMode="auto">
          <a:xfrm>
            <a:off x="0" y="6281738"/>
            <a:ext cx="10160000" cy="5762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925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buFontTx/>
              <a:buNone/>
              <a:defRPr>
                <a:latin typeface="Arial" panose="020B0604020202020204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104925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buFontTx/>
              <a:buNone/>
              <a:defRPr>
                <a:latin typeface="Arial" panose="020B0604020202020204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1049252" name="灯片编号占位符 1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</p:spPr>
        <p:txBody>
          <a:bodyPr/>
          <a:lstStyle>
            <a:lvl1pPr algn="r">
              <a:buFont typeface="Arial" panose="020B0604020202020204"/>
              <a:buNone/>
              <a:defRPr sz="1200">
                <a:solidFill>
                  <a:srgbClr val="898989"/>
                </a:solidFill>
                <a:cs typeface="+mn-ea"/>
              </a:defRPr>
            </a:lvl1pPr>
          </a:lstStyle>
          <a:p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/>
            </a:pPr>
            <a:fld id="{CC22E43B-1393-4C5C-99A0-4784F38B8F37}" type="slidenum">
              <a:rPr lang="zh-CN" sz="1200" b="0" i="0" u="none" strike="noStrike" cap="none" spc="0">
                <a:ln>
                  <a:noFill/>
                </a:ln>
                <a:solidFill>
                  <a:srgbClr val="898989"/>
                </a:solidFill>
                <a:latin typeface="Tahoma" panose="020B0604030504040204"/>
                <a:ea typeface="仿宋_GB2312"/>
                <a:cs typeface="Arial" panose="020B0604020202020204"/>
              </a:rPr>
            </a:fld>
            <a:endParaRPr lang="zh-CN" sz="1200" b="0" i="0" u="none" strike="noStrike" cap="none" spc="0">
              <a:ln>
                <a:noFill/>
              </a:ln>
              <a:solidFill>
                <a:srgbClr val="898989"/>
              </a:solidFill>
              <a:latin typeface="Tahoma" panose="020B0604030504040204"/>
              <a:ea typeface="仿宋_GB2312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248" name="Text Box 8"/>
          <p:cNvSpPr txBox="1"/>
          <p:nvPr/>
        </p:nvSpPr>
        <p:spPr bwMode="auto">
          <a:xfrm>
            <a:off x="-143933" y="6538913"/>
            <a:ext cx="2429907" cy="370205"/>
          </a:xfrm>
          <a:prstGeom prst="rect">
            <a:avLst/>
          </a:prstGeom>
          <a:noFill/>
          <a:ln w="9525">
            <a:noFill/>
          </a:ln>
        </p:spPr>
        <p:txBody>
          <a:bodyPr wrap="square" lIns="120000" tIns="62400" rIns="120000" bIns="62400" anchor="t">
            <a:spAutoFit/>
          </a:bodyPr>
          <a:lstStyle/>
          <a:p>
            <a:pPr marL="342900" lvl="0" indent="-342900" defTabSz="914400">
              <a:spcBef>
                <a:spcPts val="0"/>
              </a:spcBef>
              <a:buFont typeface="宋体" panose="02010600030101010101" pitchFamily="2" charset="-122"/>
              <a:buNone/>
              <a:defRPr/>
            </a:pPr>
            <a:r>
              <a:rPr lang="en-US" sz="1600" i="1">
                <a:latin typeface="黑体" panose="02010609060101010101" charset="-122"/>
                <a:ea typeface="隶书" panose="02010509060101010101" charset="-122"/>
              </a:rPr>
              <a:t>【</a:t>
            </a:r>
            <a:r>
              <a:rPr lang="zh-CN" sz="1600" i="1">
                <a:latin typeface="黑体" panose="02010609060101010101" charset="-122"/>
                <a:ea typeface="隶书" panose="02010509060101010101" charset="-122"/>
              </a:rPr>
              <a:t>目标</a:t>
            </a:r>
            <a:r>
              <a:rPr lang="zh-CN" sz="1600" i="1">
                <a:ea typeface="隶书" panose="02010509060101010101" charset="-122"/>
              </a:rPr>
              <a:t>＆</a:t>
            </a:r>
            <a:r>
              <a:rPr lang="zh-CN" sz="1600" i="1">
                <a:latin typeface="黑体" panose="02010609060101010101" charset="-122"/>
                <a:ea typeface="隶书" panose="02010509060101010101" charset="-122"/>
              </a:rPr>
              <a:t>计划</a:t>
            </a:r>
            <a:r>
              <a:rPr lang="zh-CN" sz="1600" i="1">
                <a:ea typeface="隶书" panose="02010509060101010101" charset="-122"/>
              </a:rPr>
              <a:t>＆</a:t>
            </a:r>
            <a:r>
              <a:rPr lang="zh-CN" sz="1600" i="1">
                <a:latin typeface="黑体" panose="02010609060101010101" charset="-122"/>
                <a:ea typeface="隶书" panose="02010509060101010101" charset="-122"/>
              </a:rPr>
              <a:t>时间</a:t>
            </a:r>
            <a:r>
              <a:rPr lang="en-US" sz="1600" i="1">
                <a:latin typeface="黑体" panose="02010609060101010101" charset="-122"/>
                <a:ea typeface="隶书" panose="02010509060101010101" charset="-122"/>
              </a:rPr>
              <a:t>】</a:t>
            </a:r>
            <a:endParaRPr lang="en-US" sz="1600" i="1">
              <a:latin typeface="黑体" panose="02010609060101010101" charset="-122"/>
              <a:ea typeface="隶书" panose="0201050906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image" Target="../media/image2.jpeg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2F288E0-7875-42C4-84C8-98DBBD3BF4D2}" type="datetimeFigureOut">
              <a:rPr lang="zh-CN" altLang="en-US"/>
            </a:fld>
            <a:endParaRPr lang="zh-CN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D9BB5D0-35E4-459D-AEF3-FE4D7C45CC19}" type="slidenum">
              <a:rPr 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7164" name="Picture 8" descr="PPT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 bwMode="auto">
          <a:xfrm>
            <a:off x="-6349" y="-12700"/>
            <a:ext cx="12204700" cy="1102784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sldNum="0" hdr="0" ftr="0" dt="0"/>
  <p:txStyles>
    <p:titleStyle>
      <a:lvl1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2pPr>
      <a:lvl3pPr algn="ctr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3pPr>
      <a:lvl4pPr algn="ctr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4pPr>
      <a:lvl5pPr algn="ctr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5pPr>
      <a:lvl6pPr marL="342900" algn="ctr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6pPr>
      <a:lvl7pPr marL="685800" algn="ctr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7pPr>
      <a:lvl8pPr marL="1028700" algn="ctr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8pPr>
      <a:lvl9pPr marL="1371600" algn="ctr">
        <a:spcBef>
          <a:spcPts val="0"/>
        </a:spcBef>
        <a:spcAft>
          <a:spcPts val="0"/>
        </a:spcAft>
        <a:defRPr sz="33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9pPr>
    </p:titleStyle>
    <p:bodyStyle>
      <a:lvl1pPr marL="342900" indent="-342900" algn="l">
        <a:spcBef>
          <a:spcPts val="130"/>
        </a:spcBef>
        <a:spcAft>
          <a:spcPts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3585" indent="-286385" algn="l">
        <a:spcBef>
          <a:spcPts val="130"/>
        </a:spcBef>
        <a:spcAft>
          <a:spcPts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>
        <a:spcBef>
          <a:spcPts val="130"/>
        </a:spcBef>
        <a:spcAft>
          <a:spcPts val="0"/>
        </a:spcAft>
        <a:buChar char="•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>
        <a:spcBef>
          <a:spcPts val="130"/>
        </a:spcBef>
        <a:spcAft>
          <a:spcPts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>
        <a:spcBef>
          <a:spcPts val="13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>
        <a:spcBef>
          <a:spcPts val="13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>
        <a:spcBef>
          <a:spcPts val="13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>
        <a:spcBef>
          <a:spcPts val="13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>
        <a:spcBef>
          <a:spcPts val="13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hf sldNum="0" hdr="0" ftr="0" dt="0"/>
  <p:txStyles>
    <p:titleStyle>
      <a:lvl1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604020202020204"/>
          <a:ea typeface="+mj-ea"/>
          <a:cs typeface="+mj-cs"/>
        </a:defRPr>
      </a:lvl1pPr>
      <a:lvl2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2pPr>
      <a:lvl3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3pPr>
      <a:lvl4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4pPr>
      <a:lvl5pPr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5pPr>
      <a:lvl6pPr marL="457200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6pPr>
      <a:lvl7pPr marL="914400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7pPr>
      <a:lvl8pPr marL="1371600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8pPr>
      <a:lvl9pPr marL="1828800" algn="ctr">
        <a:spcBef>
          <a:spcPts val="0"/>
        </a:spcBef>
        <a:spcAft>
          <a:spcPts val="0"/>
        </a:spcAft>
        <a:defRPr sz="4400">
          <a:solidFill>
            <a:schemeClr val="tx2"/>
          </a:solidFill>
          <a:latin typeface="Arial" panose="020B0604020202020204"/>
          <a:ea typeface="宋体" panose="02010600030101010101" pitchFamily="2" charset="-122"/>
        </a:defRPr>
      </a:lvl9pPr>
    </p:titleStyle>
    <p:bodyStyle>
      <a:lvl1pPr marL="342900" indent="-342900" algn="l">
        <a:spcBef>
          <a:spcPts val="0"/>
        </a:spcBef>
        <a:spcAft>
          <a:spcPts val="0"/>
        </a:spcAft>
        <a:buChar char="•"/>
        <a:defRPr sz="3200">
          <a:solidFill>
            <a:schemeClr val="tx1"/>
          </a:solidFill>
          <a:latin typeface="Arial" panose="020B0604020202020204"/>
          <a:ea typeface="+mn-ea"/>
          <a:cs typeface="+mn-cs"/>
        </a:defRPr>
      </a:lvl1pPr>
      <a:lvl2pPr marL="742950" indent="-285750" algn="l">
        <a:spcBef>
          <a:spcPts val="0"/>
        </a:spcBef>
        <a:spcAft>
          <a:spcPts val="0"/>
        </a:spcAft>
        <a:buChar char="–"/>
        <a:defRPr sz="2800">
          <a:solidFill>
            <a:schemeClr val="tx1"/>
          </a:solidFill>
          <a:latin typeface="Arial" panose="020B0604020202020204"/>
          <a:ea typeface="+mn-ea"/>
        </a:defRPr>
      </a:lvl2pPr>
      <a:lvl3pPr marL="1143000" indent="-228600" algn="l">
        <a:spcBef>
          <a:spcPts val="0"/>
        </a:spcBef>
        <a:spcAft>
          <a:spcPts val="0"/>
        </a:spcAft>
        <a:buChar char="•"/>
        <a:defRPr sz="2400">
          <a:solidFill>
            <a:schemeClr val="tx1"/>
          </a:solidFill>
          <a:latin typeface="Arial" panose="020B0604020202020204"/>
          <a:ea typeface="+mn-ea"/>
        </a:defRPr>
      </a:lvl3pPr>
      <a:lvl4pPr marL="1600200" indent="-228600" algn="l">
        <a:spcBef>
          <a:spcPts val="0"/>
        </a:spcBef>
        <a:spcAft>
          <a:spcPts val="0"/>
        </a:spcAft>
        <a:buChar char="–"/>
        <a:defRPr sz="2000">
          <a:solidFill>
            <a:schemeClr val="tx1"/>
          </a:solidFill>
          <a:latin typeface="Arial" panose="020B0604020202020204"/>
          <a:ea typeface="+mn-ea"/>
        </a:defRPr>
      </a:lvl4pPr>
      <a:lvl5pPr marL="20574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Arial" panose="020B0604020202020204"/>
          <a:ea typeface="+mn-ea"/>
        </a:defRPr>
      </a:lvl5pPr>
      <a:lvl6pPr marL="25146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>
        <a:spcBef>
          <a:spcPts val="0"/>
        </a:spcBef>
        <a:spcAft>
          <a:spcPts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image" Target="../media/image7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7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image" Target="../media/image8.png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image" Target="../media/image10.png"/><Relationship Id="rId4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2" Type="http://schemas.openxmlformats.org/officeDocument/2006/relationships/tags" Target="../tags/tag32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image" Target="../media/image10.png"/><Relationship Id="rId4" Type="http://schemas.openxmlformats.org/officeDocument/2006/relationships/image" Target="../media/image9.wmf"/><Relationship Id="rId3" Type="http://schemas.openxmlformats.org/officeDocument/2006/relationships/oleObject" Target="../embeddings/oleObject2.bin"/><Relationship Id="rId2" Type="http://schemas.openxmlformats.org/officeDocument/2006/relationships/tags" Target="../tags/tag36.xml"/><Relationship Id="rId10" Type="http://schemas.openxmlformats.org/officeDocument/2006/relationships/notesSlide" Target="../notesSlides/notesSlide9.xml"/><Relationship Id="rId1" Type="http://schemas.openxmlformats.org/officeDocument/2006/relationships/tags" Target="../tags/tag3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image" Target="../media/image10.png"/><Relationship Id="rId4" Type="http://schemas.openxmlformats.org/officeDocument/2006/relationships/image" Target="../media/image9.wmf"/><Relationship Id="rId3" Type="http://schemas.openxmlformats.org/officeDocument/2006/relationships/oleObject" Target="../embeddings/oleObject3.bin"/><Relationship Id="rId2" Type="http://schemas.openxmlformats.org/officeDocument/2006/relationships/tags" Target="../tags/tag40.xml"/><Relationship Id="rId10" Type="http://schemas.openxmlformats.org/officeDocument/2006/relationships/notesSlide" Target="../notesSlides/notesSlide10.xml"/><Relationship Id="rId1" Type="http://schemas.openxmlformats.org/officeDocument/2006/relationships/tags" Target="../tags/tag3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2" Type="http://schemas.openxmlformats.org/officeDocument/2006/relationships/tags" Target="../tags/tag48.xml"/><Relationship Id="rId11" Type="http://schemas.openxmlformats.org/officeDocument/2006/relationships/notesSlide" Target="../notesSlides/notesSlide12.xml"/><Relationship Id="rId10" Type="http://schemas.openxmlformats.org/officeDocument/2006/relationships/vmlDrawing" Target="../drawings/vmlDrawing5.vml"/><Relationship Id="rId1" Type="http://schemas.openxmlformats.org/officeDocument/2006/relationships/tags" Target="../tags/tag4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586" name="矩形 12"/>
          <p:cNvSpPr>
            <a:spLocks noChangeArrowheads="1"/>
          </p:cNvSpPr>
          <p:nvPr/>
        </p:nvSpPr>
        <p:spPr bwMode="auto">
          <a:xfrm>
            <a:off x="0" y="2204720"/>
            <a:ext cx="12192000" cy="1968500"/>
          </a:xfrm>
          <a:prstGeom prst="rect">
            <a:avLst/>
          </a:prstGeom>
          <a:gradFill>
            <a:gsLst>
              <a:gs pos="0">
                <a:srgbClr val="005292"/>
              </a:gs>
              <a:gs pos="100000">
                <a:srgbClr val="0070C0"/>
              </a:gs>
            </a:gsLst>
            <a:lin ang="5400000" scaled="0"/>
          </a:gradFill>
          <a:ln>
            <a:noFill/>
          </a:ln>
        </p:spPr>
        <p:txBody>
          <a:bodyPr lIns="272100" tIns="36411" rIns="755835" bIns="36411" anchor="ctr"/>
          <a:lstStyle>
            <a:lvl1pPr defTabSz="728345"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1pPr>
            <a:lvl2pPr marL="742950" indent="-285750" defTabSz="728345"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2pPr>
            <a:lvl3pPr marL="1143000" indent="-228600" defTabSz="728345"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3pPr>
            <a:lvl4pPr marL="1600200" indent="-228600" defTabSz="728345"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4pPr>
            <a:lvl5pPr marL="2057400" indent="-228600" defTabSz="728345"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5pPr>
            <a:lvl6pPr marL="2514600" indent="-228600" defTabSz="728345">
              <a:spcBef>
                <a:spcPts val="0"/>
              </a:spcBef>
              <a:spcAft>
                <a:spcPts val="0"/>
              </a:spcAft>
              <a:buFont typeface="Arial" panose="020B0604020202020204"/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6pPr>
            <a:lvl7pPr marL="2971800" indent="-228600" defTabSz="728345">
              <a:spcBef>
                <a:spcPts val="0"/>
              </a:spcBef>
              <a:spcAft>
                <a:spcPts val="0"/>
              </a:spcAft>
              <a:buFont typeface="Arial" panose="020B0604020202020204"/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7pPr>
            <a:lvl8pPr marL="3429000" indent="-228600" defTabSz="728345">
              <a:spcBef>
                <a:spcPts val="0"/>
              </a:spcBef>
              <a:spcAft>
                <a:spcPts val="0"/>
              </a:spcAft>
              <a:buFont typeface="Arial" panose="020B0604020202020204"/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8pPr>
            <a:lvl9pPr marL="3886200" indent="-228600" defTabSz="728345">
              <a:spcBef>
                <a:spcPts val="0"/>
              </a:spcBef>
              <a:spcAft>
                <a:spcPts val="0"/>
              </a:spcAft>
              <a:buFont typeface="Arial" panose="020B0604020202020204"/>
              <a:defRPr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defRPr/>
            </a:pPr>
            <a:endParaRPr lang="zh-CN" sz="1100">
              <a:solidFill>
                <a:srgbClr val="0070C0"/>
              </a:solidFill>
              <a:latin typeface="Calibri" panose="020F0502020204030204"/>
              <a:ea typeface="微软雅黑" panose="020B0503020204020204" charset="-122"/>
            </a:endParaRPr>
          </a:p>
        </p:txBody>
      </p:sp>
      <p:sp>
        <p:nvSpPr>
          <p:cNvPr id="1048587" name="标题 4"/>
          <p:cNvSpPr>
            <a:spLocks noGrp="1"/>
          </p:cNvSpPr>
          <p:nvPr>
            <p:ph type="title"/>
          </p:nvPr>
        </p:nvSpPr>
        <p:spPr bwMode="auto">
          <a:xfrm>
            <a:off x="916305" y="2295525"/>
            <a:ext cx="10360025" cy="1786890"/>
          </a:xfrm>
        </p:spPr>
        <p:txBody>
          <a:bodyPr>
            <a:no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zh-CN" altLang="en-US" sz="4800">
                <a:solidFill>
                  <a:schemeClr val="bg1"/>
                </a:solidFill>
                <a:latin typeface="方正小标宋简体" panose="02000000000000000000" charset="-122"/>
                <a:ea typeface="方正小标宋简体" panose="02000000000000000000" charset="-122"/>
                <a:cs typeface="Arial" panose="020B0604020202020204"/>
              </a:rPr>
              <a:t>月度工作</a:t>
            </a:r>
            <a:r>
              <a:rPr lang="zh-CN" altLang="en-US" sz="4800">
                <a:solidFill>
                  <a:schemeClr val="bg1"/>
                </a:solidFill>
                <a:latin typeface="方正小标宋简体" panose="02000000000000000000" charset="-122"/>
                <a:ea typeface="方正小标宋简体" panose="02000000000000000000" charset="-122"/>
                <a:cs typeface="Arial" panose="020B0604020202020204"/>
              </a:rPr>
              <a:t>汇报</a:t>
            </a:r>
            <a:endParaRPr lang="zh-CN" altLang="en-US" sz="4800">
              <a:solidFill>
                <a:schemeClr val="bg1"/>
              </a:solidFill>
              <a:latin typeface="方正小标宋简体" panose="02000000000000000000" charset="-122"/>
              <a:ea typeface="方正小标宋简体" panose="02000000000000000000" charset="-122"/>
              <a:cs typeface="Arial" panose="020B0604020202020204"/>
            </a:endParaRPr>
          </a:p>
        </p:txBody>
      </p:sp>
      <p:sp>
        <p:nvSpPr>
          <p:cNvPr id="1048588" name="文本框 6"/>
          <p:cNvSpPr txBox="1"/>
          <p:nvPr/>
        </p:nvSpPr>
        <p:spPr bwMode="auto">
          <a:xfrm>
            <a:off x="4762499" y="4773294"/>
            <a:ext cx="2668079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000"/>
              </a:lnSpc>
              <a:defRPr/>
            </a:pPr>
            <a:r>
              <a:rPr lang="zh-CN" sz="200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汇报人：</a:t>
            </a:r>
            <a:r>
              <a:rPr lang="zh-CN" altLang="en-US" sz="200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宋恩圣</a:t>
            </a:r>
            <a:endParaRPr lang="en-US" altLang="zh-CN" sz="2000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  <a:p>
            <a:pPr algn="ctr">
              <a:lnSpc>
                <a:spcPts val="4000"/>
              </a:lnSpc>
              <a:defRPr/>
            </a:pPr>
            <a:r>
              <a:rPr lang="zh-CN" altLang="en-US" sz="2000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导师：梁建</a:t>
            </a:r>
            <a:endParaRPr lang="zh-CN" sz="2000" b="1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  <a:p>
            <a:pPr algn="ctr">
              <a:lnSpc>
                <a:spcPts val="4000"/>
              </a:lnSpc>
              <a:defRPr/>
            </a:pPr>
            <a:r>
              <a:rPr lang="en-US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2026</a:t>
            </a:r>
            <a:r>
              <a:rPr lang="zh-CN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年</a:t>
            </a:r>
            <a:r>
              <a:rPr lang="en-US" altLang="zh-CN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8</a:t>
            </a:r>
            <a:r>
              <a:rPr lang="zh-CN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月</a:t>
            </a:r>
            <a:r>
              <a:rPr lang="en-US" altLang="zh-CN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1</a:t>
            </a:r>
            <a:r>
              <a:rPr lang="en-US" altLang="zh-CN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9</a:t>
            </a:r>
            <a:r>
              <a:rPr lang="zh-CN" altLang="en-US">
                <a:solidFill>
                  <a:schemeClr val="tx1"/>
                </a:solidFill>
                <a:latin typeface="方正小标宋简体" panose="02000000000000000000" charset="-122"/>
                <a:ea typeface="方正小标宋简体" panose="02000000000000000000" charset="-122"/>
              </a:rPr>
              <a:t>日</a:t>
            </a:r>
            <a:endParaRPr lang="zh-CN" altLang="en-US">
              <a:solidFill>
                <a:schemeClr val="tx1"/>
              </a:solidFill>
              <a:latin typeface="方正小标宋简体" panose="02000000000000000000" charset="-122"/>
              <a:ea typeface="方正小标宋简体" panose="02000000000000000000" charset="-122"/>
            </a:endParaRPr>
          </a:p>
        </p:txBody>
      </p:sp>
      <p:pic>
        <p:nvPicPr>
          <p:cNvPr id="2097152" name="图片 10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4906010" y="318135"/>
            <a:ext cx="2379345" cy="1656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145734" name="直接连接符 6"/>
          <p:cNvCxnSpPr/>
          <p:nvPr/>
        </p:nvCxnSpPr>
        <p:spPr bwMode="auto">
          <a:xfrm flipV="1">
            <a:off x="0" y="629920"/>
            <a:ext cx="9468070" cy="1905"/>
          </a:xfrm>
          <a:prstGeom prst="line">
            <a:avLst/>
          </a:prstGeom>
          <a:ln w="28575" cap="flat" cmpd="sng">
            <a:solidFill>
              <a:srgbClr val="7DA5C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1" name="矩形 140"/>
          <p:cNvSpPr/>
          <p:nvPr>
            <p:custDataLst>
              <p:tags r:id="rId1"/>
            </p:custDataLst>
          </p:nvPr>
        </p:nvSpPr>
        <p:spPr>
          <a:xfrm>
            <a:off x="416560" y="1424305"/>
            <a:ext cx="11054715" cy="76200"/>
          </a:xfrm>
          <a:prstGeom prst="rect">
            <a:avLst/>
          </a:prstGeom>
          <a:gradFill>
            <a:gsLst>
              <a:gs pos="0">
                <a:schemeClr val="bg2">
                  <a:alpha val="17000"/>
                </a:schemeClr>
              </a:gs>
              <a:gs pos="57000">
                <a:schemeClr val="accent1"/>
              </a:gs>
              <a:gs pos="100000">
                <a:schemeClr val="bg2">
                  <a:alpha val="17000"/>
                </a:schemeClr>
              </a:gs>
            </a:gsLst>
            <a:lin ang="108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417195" y="631825"/>
            <a:ext cx="11054080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一、研究背景与目的</a:t>
            </a:r>
            <a:endParaRPr lang="zh-CN" altLang="en-US" sz="2400" b="1" dirty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5005" y="1949450"/>
            <a:ext cx="8256270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研究目的：</a:t>
            </a:r>
            <a:endParaRPr lang="zh-CN" altLang="en-US" sz="2400" b="1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本文旨在解决传统探索算法中的</a:t>
            </a:r>
            <a:r>
              <a:rPr lang="en-US" altLang="zh-CN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短视</a:t>
            </a:r>
            <a:r>
              <a:rPr lang="en-US" altLang="zh-CN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。作者提出一个名为</a:t>
            </a:r>
            <a:r>
              <a:rPr lang="en-US" altLang="zh-CN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ARiADNE 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的新方法，其核心目标是利用</a:t>
            </a:r>
            <a:r>
              <a:rPr lang="zh-CN" altLang="en-US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深度强化学习（</a:t>
            </a:r>
            <a:r>
              <a:rPr lang="en-US" altLang="zh-CN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DRL</a:t>
            </a:r>
            <a:r>
              <a:rPr lang="zh-CN" altLang="en-US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）和基于注意力（</a:t>
            </a:r>
            <a:r>
              <a:rPr lang="en-US" altLang="zh-CN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Attention-based</a:t>
            </a:r>
            <a:r>
              <a:rPr lang="zh-CN" altLang="en-US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）的深度网络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来学习一种</a:t>
            </a:r>
            <a:r>
              <a:rPr lang="en-US" altLang="zh-CN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非短视的</a:t>
            </a:r>
            <a:r>
              <a:rPr lang="en-US" altLang="zh-CN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探索策略。该策略应具备两个层面的</a:t>
            </a:r>
            <a:r>
              <a:rPr lang="en-US" altLang="zh-CN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远见</a:t>
            </a:r>
            <a:r>
              <a:rPr lang="en-US" altLang="zh-CN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>
              <a:solidFill>
                <a:srgbClr val="1A1C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buSzPct val="80000"/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空间上的非短视性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机器人做决策时，应能</a:t>
            </a:r>
            <a:r>
              <a:rPr lang="zh-CN" altLang="en-US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理解决策点与整个局部地图中所有区域之间的依赖关系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而不仅仅是关注局部边界。</a:t>
            </a:r>
            <a:endParaRPr lang="zh-CN" altLang="en-US">
              <a:solidFill>
                <a:srgbClr val="1A1C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42950" lvl="1" indent="-285750">
              <a:lnSpc>
                <a:spcPct val="150000"/>
              </a:lnSpc>
              <a:buSzPct val="80000"/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时间上的非短视性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机器人应能隐式地</a:t>
            </a:r>
            <a:r>
              <a:rPr lang="zh-CN" altLang="en-US" b="1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预测当前决策对未来探索收益的长期影响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选择长期回报最高的行动。</a:t>
            </a:r>
            <a:endParaRPr lang="zh-CN" altLang="en-US">
              <a:solidFill>
                <a:srgbClr val="1A1C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6" name="组合 55"/>
          <p:cNvGrpSpPr/>
          <p:nvPr>
            <p:custDataLst>
              <p:tags r:id="rId3"/>
            </p:custDataLst>
          </p:nvPr>
        </p:nvGrpSpPr>
        <p:grpSpPr>
          <a:xfrm>
            <a:off x="942340" y="2640330"/>
            <a:ext cx="1812290" cy="2004695"/>
            <a:chOff x="2053008" y="1642534"/>
            <a:chExt cx="2610662" cy="2700866"/>
          </a:xfrm>
        </p:grpSpPr>
        <p:sp>
          <p:nvSpPr>
            <p:cNvPr id="55" name="任意多边形 54"/>
            <p:cNvSpPr/>
            <p:nvPr>
              <p:custDataLst>
                <p:tags r:id="rId4"/>
              </p:custDataLst>
            </p:nvPr>
          </p:nvSpPr>
          <p:spPr>
            <a:xfrm>
              <a:off x="2053008" y="2197346"/>
              <a:ext cx="2610662" cy="2146054"/>
            </a:xfrm>
            <a:custGeom>
              <a:avLst/>
              <a:gdLst>
                <a:gd name="connsiteX0" fmla="*/ 840722 w 2610662"/>
                <a:gd name="connsiteY0" fmla="*/ 1681446 h 2146054"/>
                <a:gd name="connsiteX1" fmla="*/ 933609 w 2610662"/>
                <a:gd name="connsiteY1" fmla="*/ 1681446 h 2146054"/>
                <a:gd name="connsiteX2" fmla="*/ 1305330 w 2610662"/>
                <a:gd name="connsiteY2" fmla="*/ 2053167 h 2146054"/>
                <a:gd name="connsiteX3" fmla="*/ 1677052 w 2610662"/>
                <a:gd name="connsiteY3" fmla="*/ 1681446 h 2146054"/>
                <a:gd name="connsiteX4" fmla="*/ 1769939 w 2610662"/>
                <a:gd name="connsiteY4" fmla="*/ 1681446 h 2146054"/>
                <a:gd name="connsiteX5" fmla="*/ 1305330 w 2610662"/>
                <a:gd name="connsiteY5" fmla="*/ 2146054 h 2146054"/>
                <a:gd name="connsiteX6" fmla="*/ 840722 w 2610662"/>
                <a:gd name="connsiteY6" fmla="*/ 0 h 2146054"/>
                <a:gd name="connsiteX7" fmla="*/ 860831 w 2610662"/>
                <a:gd name="connsiteY7" fmla="*/ 0 h 2146054"/>
                <a:gd name="connsiteX8" fmla="*/ 56498 w 2610662"/>
                <a:gd name="connsiteY8" fmla="*/ 804333 h 2146054"/>
                <a:gd name="connsiteX9" fmla="*/ 860832 w 2610662"/>
                <a:gd name="connsiteY9" fmla="*/ 1608667 h 2146054"/>
                <a:gd name="connsiteX10" fmla="*/ 1749830 w 2610662"/>
                <a:gd name="connsiteY10" fmla="*/ 1608667 h 2146054"/>
                <a:gd name="connsiteX11" fmla="*/ 2554164 w 2610662"/>
                <a:gd name="connsiteY11" fmla="*/ 804333 h 2146054"/>
                <a:gd name="connsiteX12" fmla="*/ 1749831 w 2610662"/>
                <a:gd name="connsiteY12" fmla="*/ 0 h 2146054"/>
                <a:gd name="connsiteX13" fmla="*/ 1769941 w 2610662"/>
                <a:gd name="connsiteY13" fmla="*/ 0 h 2146054"/>
                <a:gd name="connsiteX14" fmla="*/ 2610662 w 2610662"/>
                <a:gd name="connsiteY14" fmla="*/ 840722 h 2146054"/>
                <a:gd name="connsiteX15" fmla="*/ 1769940 w 2610662"/>
                <a:gd name="connsiteY15" fmla="*/ 1681445 h 2146054"/>
                <a:gd name="connsiteX16" fmla="*/ 1677053 w 2610662"/>
                <a:gd name="connsiteY16" fmla="*/ 1681445 h 2146054"/>
                <a:gd name="connsiteX17" fmla="*/ 1749829 w 2610662"/>
                <a:gd name="connsiteY17" fmla="*/ 1608668 h 2146054"/>
                <a:gd name="connsiteX18" fmla="*/ 860831 w 2610662"/>
                <a:gd name="connsiteY18" fmla="*/ 1608668 h 2146054"/>
                <a:gd name="connsiteX19" fmla="*/ 933608 w 2610662"/>
                <a:gd name="connsiteY19" fmla="*/ 1681445 h 2146054"/>
                <a:gd name="connsiteX20" fmla="*/ 840723 w 2610662"/>
                <a:gd name="connsiteY20" fmla="*/ 1681445 h 2146054"/>
                <a:gd name="connsiteX21" fmla="*/ 0 w 2610662"/>
                <a:gd name="connsiteY21" fmla="*/ 840722 h 2146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610662" h="2146054">
                  <a:moveTo>
                    <a:pt x="840722" y="1681446"/>
                  </a:moveTo>
                  <a:lnTo>
                    <a:pt x="933609" y="1681446"/>
                  </a:lnTo>
                  <a:lnTo>
                    <a:pt x="1305330" y="2053167"/>
                  </a:lnTo>
                  <a:lnTo>
                    <a:pt x="1677052" y="1681446"/>
                  </a:lnTo>
                  <a:lnTo>
                    <a:pt x="1769939" y="1681446"/>
                  </a:lnTo>
                  <a:lnTo>
                    <a:pt x="1305330" y="2146054"/>
                  </a:lnTo>
                  <a:close/>
                  <a:moveTo>
                    <a:pt x="840722" y="0"/>
                  </a:moveTo>
                  <a:lnTo>
                    <a:pt x="860831" y="0"/>
                  </a:lnTo>
                  <a:lnTo>
                    <a:pt x="56498" y="804333"/>
                  </a:lnTo>
                  <a:lnTo>
                    <a:pt x="860832" y="1608667"/>
                  </a:lnTo>
                  <a:lnTo>
                    <a:pt x="1749830" y="1608667"/>
                  </a:lnTo>
                  <a:lnTo>
                    <a:pt x="2554164" y="804333"/>
                  </a:lnTo>
                  <a:lnTo>
                    <a:pt x="1749831" y="0"/>
                  </a:lnTo>
                  <a:lnTo>
                    <a:pt x="1769941" y="0"/>
                  </a:lnTo>
                  <a:lnTo>
                    <a:pt x="2610662" y="840722"/>
                  </a:lnTo>
                  <a:lnTo>
                    <a:pt x="1769940" y="1681445"/>
                  </a:lnTo>
                  <a:lnTo>
                    <a:pt x="1677053" y="1681445"/>
                  </a:lnTo>
                  <a:lnTo>
                    <a:pt x="1749829" y="1608668"/>
                  </a:lnTo>
                  <a:lnTo>
                    <a:pt x="860831" y="1608668"/>
                  </a:lnTo>
                  <a:lnTo>
                    <a:pt x="933608" y="1681445"/>
                  </a:lnTo>
                  <a:lnTo>
                    <a:pt x="840723" y="1681445"/>
                  </a:lnTo>
                  <a:lnTo>
                    <a:pt x="0" y="840722"/>
                  </a:lnTo>
                  <a:close/>
                </a:path>
              </a:pathLst>
            </a:custGeom>
            <a:solidFill>
              <a:srgbClr val="37AFE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>
              <a:normAutofit/>
            </a:bodyPr>
            <a:lstStyle/>
            <a:p>
              <a:pPr algn="ctr"/>
              <a:endParaRPr lang="zh-CN" altLang="en-US">
                <a:solidFill>
                  <a:srgbClr val="FFFFFF"/>
                </a:solidFill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52" name="任意多边形 51"/>
            <p:cNvSpPr/>
            <p:nvPr>
              <p:custDataLst>
                <p:tags r:id="rId5"/>
              </p:custDataLst>
            </p:nvPr>
          </p:nvSpPr>
          <p:spPr>
            <a:xfrm>
              <a:off x="2109506" y="2087034"/>
              <a:ext cx="2497666" cy="2053167"/>
            </a:xfrm>
            <a:custGeom>
              <a:avLst/>
              <a:gdLst>
                <a:gd name="connsiteX0" fmla="*/ 804333 w 2497666"/>
                <a:gd name="connsiteY0" fmla="*/ 1608668 h 2053167"/>
                <a:gd name="connsiteX1" fmla="*/ 1693331 w 2497666"/>
                <a:gd name="connsiteY1" fmla="*/ 1608668 h 2053167"/>
                <a:gd name="connsiteX2" fmla="*/ 1248832 w 2497666"/>
                <a:gd name="connsiteY2" fmla="*/ 2053167 h 2053167"/>
                <a:gd name="connsiteX3" fmla="*/ 804333 w 2497666"/>
                <a:gd name="connsiteY3" fmla="*/ 0 h 2053167"/>
                <a:gd name="connsiteX4" fmla="*/ 1693333 w 2497666"/>
                <a:gd name="connsiteY4" fmla="*/ 0 h 2053167"/>
                <a:gd name="connsiteX5" fmla="*/ 2497666 w 2497666"/>
                <a:gd name="connsiteY5" fmla="*/ 804333 h 2053167"/>
                <a:gd name="connsiteX6" fmla="*/ 1693332 w 2497666"/>
                <a:gd name="connsiteY6" fmla="*/ 1608667 h 2053167"/>
                <a:gd name="connsiteX7" fmla="*/ 804334 w 2497666"/>
                <a:gd name="connsiteY7" fmla="*/ 1608667 h 2053167"/>
                <a:gd name="connsiteX8" fmla="*/ 0 w 2497666"/>
                <a:gd name="connsiteY8" fmla="*/ 804333 h 2053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97666" h="2053167">
                  <a:moveTo>
                    <a:pt x="804333" y="1608668"/>
                  </a:moveTo>
                  <a:lnTo>
                    <a:pt x="1693331" y="1608668"/>
                  </a:lnTo>
                  <a:lnTo>
                    <a:pt x="1248832" y="2053167"/>
                  </a:lnTo>
                  <a:close/>
                  <a:moveTo>
                    <a:pt x="804333" y="0"/>
                  </a:moveTo>
                  <a:lnTo>
                    <a:pt x="1693333" y="0"/>
                  </a:lnTo>
                  <a:lnTo>
                    <a:pt x="2497666" y="804333"/>
                  </a:lnTo>
                  <a:lnTo>
                    <a:pt x="1693332" y="1608667"/>
                  </a:lnTo>
                  <a:lnTo>
                    <a:pt x="804334" y="1608667"/>
                  </a:lnTo>
                  <a:lnTo>
                    <a:pt x="0" y="804333"/>
                  </a:lnTo>
                  <a:close/>
                </a:path>
              </a:pathLst>
            </a:custGeom>
            <a:solidFill>
              <a:srgbClr val="628EE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bIns="468000" rtlCol="0" anchor="ctr">
              <a:normAutofit/>
            </a:bodyPr>
            <a:lstStyle/>
            <a:p>
              <a:pPr algn="ctr"/>
              <a:r>
                <a:rPr lang="en-US" altLang="zh-CN" smtClean="0">
                  <a:solidFill>
                    <a:srgbClr val="FFFFFF"/>
                  </a:solidFill>
                  <a:latin typeface="Calibri" panose="020F0502020204030204" charset="0"/>
                  <a:ea typeface="宋体" panose="02010600030101010101" pitchFamily="2" charset="-122"/>
                  <a:sym typeface="Arial" panose="020B0604020202020204" pitchFamily="34" charset="0"/>
                </a:rPr>
                <a:t> </a:t>
              </a:r>
              <a:endParaRPr lang="en-US" altLang="zh-CN" smtClean="0">
                <a:solidFill>
                  <a:srgbClr val="FFFFFF"/>
                </a:solidFill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endParaRPr>
            </a:p>
            <a:p>
              <a:pPr algn="ctr"/>
              <a:endParaRPr lang="en-US" altLang="zh-CN" smtClean="0">
                <a:solidFill>
                  <a:srgbClr val="FFFFFF"/>
                </a:solidFill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51" name="任意多边形 50"/>
            <p:cNvSpPr/>
            <p:nvPr>
              <p:custDataLst>
                <p:tags r:id="rId6"/>
              </p:custDataLst>
            </p:nvPr>
          </p:nvSpPr>
          <p:spPr>
            <a:xfrm>
              <a:off x="2913839" y="1642534"/>
              <a:ext cx="889000" cy="444500"/>
            </a:xfrm>
            <a:custGeom>
              <a:avLst/>
              <a:gdLst>
                <a:gd name="connsiteX0" fmla="*/ 444500 w 889000"/>
                <a:gd name="connsiteY0" fmla="*/ 0 h 444500"/>
                <a:gd name="connsiteX1" fmla="*/ 889000 w 889000"/>
                <a:gd name="connsiteY1" fmla="*/ 444500 h 444500"/>
                <a:gd name="connsiteX2" fmla="*/ 0 w 889000"/>
                <a:gd name="connsiteY2" fmla="*/ 444500 h 44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9000" h="444500">
                  <a:moveTo>
                    <a:pt x="444500" y="0"/>
                  </a:moveTo>
                  <a:lnTo>
                    <a:pt x="889000" y="444500"/>
                  </a:lnTo>
                  <a:lnTo>
                    <a:pt x="0" y="444500"/>
                  </a:lnTo>
                  <a:close/>
                </a:path>
              </a:pathLst>
            </a:custGeom>
            <a:solidFill>
              <a:srgbClr val="37AFE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rtlCol="0" anchor="b">
              <a:normAutofit fontScale="90000" lnSpcReduction="20000"/>
            </a:bodyPr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60" name="直接连接符 59"/>
          <p:cNvCxnSpPr/>
          <p:nvPr>
            <p:custDataLst>
              <p:tags r:id="rId7"/>
            </p:custDataLst>
          </p:nvPr>
        </p:nvCxnSpPr>
        <p:spPr>
          <a:xfrm flipV="1">
            <a:off x="2974961" y="5975540"/>
            <a:ext cx="8573770" cy="3175"/>
          </a:xfrm>
          <a:prstGeom prst="line">
            <a:avLst/>
          </a:prstGeom>
          <a:noFill/>
          <a:ln w="6350" cap="flat" cmpd="sng" algn="ctr">
            <a:solidFill>
              <a:srgbClr val="6096E6"/>
            </a:solidFill>
            <a:prstDash val="solid"/>
            <a:miter lim="800000"/>
          </a:ln>
          <a:effectLst/>
        </p:spPr>
      </p:cxnSp>
      <p:grpSp>
        <p:nvGrpSpPr>
          <p:cNvPr id="5" name="组合 4"/>
          <p:cNvGrpSpPr/>
          <p:nvPr/>
        </p:nvGrpSpPr>
        <p:grpSpPr>
          <a:xfrm>
            <a:off x="159385" y="124460"/>
            <a:ext cx="1826260" cy="368300"/>
            <a:chOff x="251" y="196"/>
            <a:chExt cx="2876" cy="580"/>
          </a:xfrm>
        </p:grpSpPr>
        <p:sp>
          <p:nvSpPr>
            <p:cNvPr id="7" name="文本框 0"/>
            <p:cNvSpPr txBox="1"/>
            <p:nvPr>
              <p:custDataLst>
                <p:tags r:id="rId8"/>
              </p:custDataLst>
            </p:nvPr>
          </p:nvSpPr>
          <p:spPr>
            <a:xfrm>
              <a:off x="251" y="196"/>
              <a:ext cx="2877" cy="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pPr algn="l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Baseline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介绍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9"/>
              </p:custDataLst>
            </p:nvPr>
          </p:nvSpPr>
          <p:spPr>
            <a:xfrm>
              <a:off x="255" y="200"/>
              <a:ext cx="120" cy="5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145734" name="直接连接符 6"/>
          <p:cNvCxnSpPr/>
          <p:nvPr/>
        </p:nvCxnSpPr>
        <p:spPr bwMode="auto">
          <a:xfrm flipV="1">
            <a:off x="0" y="629920"/>
            <a:ext cx="9468070" cy="1905"/>
          </a:xfrm>
          <a:prstGeom prst="line">
            <a:avLst/>
          </a:prstGeom>
          <a:ln w="28575" cap="flat" cmpd="sng">
            <a:solidFill>
              <a:srgbClr val="7DA5C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61925" y="127000"/>
            <a:ext cx="76200" cy="356870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矩形 140"/>
          <p:cNvSpPr/>
          <p:nvPr>
            <p:custDataLst>
              <p:tags r:id="rId2"/>
            </p:custDataLst>
          </p:nvPr>
        </p:nvSpPr>
        <p:spPr>
          <a:xfrm>
            <a:off x="416560" y="1316990"/>
            <a:ext cx="11054715" cy="76200"/>
          </a:xfrm>
          <a:prstGeom prst="rect">
            <a:avLst/>
          </a:prstGeom>
          <a:gradFill>
            <a:gsLst>
              <a:gs pos="0">
                <a:schemeClr val="bg2">
                  <a:alpha val="17000"/>
                </a:schemeClr>
              </a:gs>
              <a:gs pos="57000">
                <a:schemeClr val="accent1"/>
              </a:gs>
              <a:gs pos="100000">
                <a:schemeClr val="bg2">
                  <a:alpha val="17000"/>
                </a:schemeClr>
              </a:gs>
            </a:gsLst>
            <a:lin ang="108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417195" y="631825"/>
            <a:ext cx="11054080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zh-CN" altLang="en-US" sz="2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二、技术路线</a:t>
            </a:r>
            <a:endParaRPr lang="zh-CN" altLang="en-US" sz="2400" b="1" dirty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2460" y="1376045"/>
            <a:ext cx="7416800" cy="62738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图上的序列决策</a:t>
            </a:r>
            <a:endParaRPr lang="zh-CN" altLang="en-US" sz="2400" b="1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83175" y="2343785"/>
            <a:ext cx="6091555" cy="3427730"/>
          </a:xfrm>
          <a:prstGeom prst="rect">
            <a:avLst/>
          </a:prstGeom>
        </p:spPr>
        <p:txBody>
          <a:bodyPr wrap="square">
            <a:sp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SzPct val="80000"/>
              <a:buFont typeface="Wingdings" panose="05000000000000000000" charset="0"/>
              <a:buChar char="l"/>
            </a:pPr>
            <a:r>
              <a:rPr lang="zh-CN" altLang="en-US" b="1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构建图 </a:t>
            </a:r>
            <a:r>
              <a:rPr lang="en-US" altLang="zh-CN" b="1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算法首先在当前已知的可通行区域内</a:t>
            </a:r>
            <a:r>
              <a:rPr lang="zh-CN" altLang="en-US" b="1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均匀撒点</a:t>
            </a:r>
            <a:r>
              <a:rPr lang="zh-CN" altLang="en-US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作为候选的视点（</a:t>
            </a:r>
            <a:r>
              <a:rPr lang="en-US" altLang="zh-CN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viewpoints</a:t>
            </a:r>
            <a:r>
              <a:rPr lang="zh-CN" altLang="en-US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），即图的节点（</a:t>
            </a:r>
            <a:r>
              <a:rPr lang="en-US" altLang="zh-CN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nodes</a:t>
            </a:r>
            <a:r>
              <a:rPr lang="zh-CN" altLang="en-US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）。如果两个节点之间的直线路径不与障碍物或未知区域碰撞，就在它们之间连接一条边（</a:t>
            </a:r>
            <a:r>
              <a:rPr lang="en-US" altLang="zh-CN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</a:t>
            </a:r>
            <a:r>
              <a:rPr lang="zh-CN" altLang="en-US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）。这样就构建了一个动态更新的</a:t>
            </a:r>
            <a:r>
              <a:rPr lang="zh-CN" altLang="en-US" b="1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无碰撞图</a:t>
            </a:r>
            <a:r>
              <a:rPr lang="zh-CN" altLang="en-US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b="0" i="0">
              <a:solidFill>
                <a:srgbClr val="1A1C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ts val="100"/>
              </a:spcAft>
              <a:buSzPct val="80000"/>
              <a:buFont typeface="Wingdings" panose="05000000000000000000" charset="0"/>
              <a:buChar char="l"/>
            </a:pPr>
            <a:r>
              <a:rPr lang="zh-CN" altLang="en-US" b="1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动作空间</a:t>
            </a:r>
            <a:r>
              <a:rPr lang="en-US" altLang="zh-CN" sz="1600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机器人的动作被简化为：在当前所在的图节点上，选择一个</a:t>
            </a:r>
            <a:r>
              <a:rPr lang="zh-CN" altLang="en-US" b="1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相邻的节点作为下一个移动目标</a:t>
            </a:r>
            <a:r>
              <a:rPr lang="zh-CN" altLang="en-US" b="0" i="0">
                <a:solidFill>
                  <a:srgbClr val="1A1C1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。这种方式极大地简化了决策过程。</a:t>
            </a:r>
            <a:endParaRPr lang="zh-CN" altLang="en-US" b="0" i="0">
              <a:solidFill>
                <a:srgbClr val="1A1C1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40" y="2461895"/>
            <a:ext cx="3752850" cy="2978150"/>
          </a:xfrm>
          <a:prstGeom prst="rect">
            <a:avLst/>
          </a:prstGeom>
        </p:spPr>
      </p:pic>
      <p:sp>
        <p:nvSpPr>
          <p:cNvPr id="6" name="文本框 0"/>
          <p:cNvSpPr txBox="1"/>
          <p:nvPr>
            <p:custDataLst>
              <p:tags r:id="rId5"/>
            </p:custDataLst>
          </p:nvPr>
        </p:nvSpPr>
        <p:spPr>
          <a:xfrm>
            <a:off x="159385" y="124460"/>
            <a:ext cx="1826895" cy="368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algn="l"/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Baseline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rPr>
              <a:t>介绍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Calibri" panose="020F0502020204030204" charset="0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159385" y="135890"/>
            <a:ext cx="76200" cy="356870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145734" name="直接连接符 6"/>
          <p:cNvCxnSpPr/>
          <p:nvPr/>
        </p:nvCxnSpPr>
        <p:spPr bwMode="auto">
          <a:xfrm flipV="1">
            <a:off x="0" y="629920"/>
            <a:ext cx="9468070" cy="1905"/>
          </a:xfrm>
          <a:prstGeom prst="line">
            <a:avLst/>
          </a:prstGeom>
          <a:ln w="28575" cap="flat" cmpd="sng">
            <a:solidFill>
              <a:srgbClr val="7DA5C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1" name="矩形 140"/>
          <p:cNvSpPr/>
          <p:nvPr>
            <p:custDataLst>
              <p:tags r:id="rId1"/>
            </p:custDataLst>
          </p:nvPr>
        </p:nvSpPr>
        <p:spPr>
          <a:xfrm>
            <a:off x="416560" y="1316990"/>
            <a:ext cx="11054715" cy="76200"/>
          </a:xfrm>
          <a:prstGeom prst="rect">
            <a:avLst/>
          </a:prstGeom>
          <a:gradFill>
            <a:gsLst>
              <a:gs pos="0">
                <a:schemeClr val="bg2">
                  <a:alpha val="17000"/>
                </a:schemeClr>
              </a:gs>
              <a:gs pos="57000">
                <a:schemeClr val="accent1"/>
              </a:gs>
              <a:gs pos="100000">
                <a:schemeClr val="bg2">
                  <a:alpha val="17000"/>
                </a:schemeClr>
              </a:gs>
            </a:gsLst>
            <a:lin ang="108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417195" y="631825"/>
            <a:ext cx="11054080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zh-CN" altLang="en-US" sz="2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二、技术路线</a:t>
            </a:r>
            <a:endParaRPr lang="zh-CN" altLang="en-US" sz="2400" b="1" dirty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2460" y="1376045"/>
            <a:ext cx="7416800" cy="62738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图上的序列决策</a:t>
            </a:r>
            <a:endParaRPr lang="zh-CN" altLang="en-US" sz="2400" b="1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48860" y="1855470"/>
            <a:ext cx="6944360" cy="48926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考虑一个有界且未知的环境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Ɛ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该环境由一个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x </a:t>
            </a:r>
            <a:r>
              <a:rPr lang="en-US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y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的二维占据栅格地图表示。</a:t>
            </a:r>
            <a:endParaRPr lang="zh-CN" altLang="en-US" sz="16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SzPct val="75000"/>
              <a:buFont typeface="Wingdings" panose="05000000000000000000" charset="0"/>
              <a:buChar char="l"/>
            </a:pPr>
            <a:r>
              <a:rPr lang="en-US" altLang="zh-CN" sz="1600" b="1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局部地图</a:t>
            </a:r>
            <a:endParaRPr lang="zh-CN" altLang="en-US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285750" indent="-285750">
              <a:lnSpc>
                <a:spcPct val="150000"/>
              </a:lnSpc>
              <a:buSzPct val="75000"/>
              <a:buFont typeface="Wingdings" panose="05000000000000000000" charset="0"/>
              <a:buChar char="l"/>
            </a:pPr>
            <a:r>
              <a:rPr lang="en-US" altLang="zh-CN" sz="1600" b="1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</a:t>
            </a:r>
            <a:r>
              <a:rPr lang="en-US" altLang="zh-CN" sz="1600" b="1" i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真实地图</a:t>
            </a:r>
            <a:endParaRPr lang="en-US" altLang="zh-CN" sz="16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SzPct val="75000"/>
              <a:buFont typeface="Wingdings" panose="05000000000000000000" charset="0"/>
              <a:buChar char="l"/>
            </a:pPr>
            <a:r>
              <a:rPr lang="en-US" altLang="zh-CN" sz="1600" b="1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1600" b="1" i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u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未探索区域</a:t>
            </a:r>
            <a:endParaRPr lang="zh-CN" altLang="en-US" sz="16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SzPct val="75000"/>
              <a:buFont typeface="Wingdings" panose="05000000000000000000" charset="0"/>
              <a:buChar char="l"/>
            </a:pPr>
            <a:r>
              <a:rPr lang="en-US" altLang="zh-CN" sz="1600" b="1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1600" b="1" i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已探索区域（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1600" i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u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∪ 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1600" i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= 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），进一步划分为自由区域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1600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f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和障碍区域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1600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o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（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1600" i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f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∪ 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1600" i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o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= 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1600" i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k</a:t>
            </a:r>
            <a:r>
              <a:rPr lang="zh-CN" altLang="en-US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）</a:t>
            </a:r>
            <a:endParaRPr lang="zh-CN" altLang="en-US" sz="1600" b="0" i="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探索开始时，环境完全未知因此局部地图 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P=</a:t>
            </a:r>
            <a:r>
              <a:rPr lang="en-US" altLang="zh-CN" sz="1600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1600" i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u</a:t>
            </a:r>
            <a:endParaRPr lang="en-US" altLang="zh-CN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探索过程中，传感器探测范围</a:t>
            </a:r>
            <a:r>
              <a:rPr lang="en-US" altLang="zh-CN" sz="1600" b="1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d</a:t>
            </a:r>
            <a:r>
              <a:rPr lang="en-US" altLang="zh-CN" sz="1600" b="1" i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s</a:t>
            </a:r>
            <a:r>
              <a:rPr lang="en-US" altLang="zh-CN" sz="1600" b="1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(360 度激光雷达)内的未知区域会根据传感器测量数据被划分为自由区域或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障碍</a:t>
            </a:r>
            <a:r>
              <a:rPr lang="en-US" altLang="zh-CN" sz="16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区域。</a:t>
            </a:r>
            <a:endParaRPr lang="en-US" altLang="zh-CN" sz="16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自主探索的目标是找到一条最短的无碰撞机器人轨迹</a:t>
            </a:r>
            <a:r>
              <a:rPr lang="en-US" altLang="zh-CN" sz="1600" b="0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ψ∗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以完成探索任务。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 algn="ctr">
              <a:lnSpc>
                <a:spcPct val="150000"/>
              </a:lnSpc>
            </a:pP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ψ∗ = argmin  ψ∈Ψ  C(ψ)， s.t.  P</a:t>
            </a:r>
            <a:r>
              <a:rPr lang="en-US" altLang="zh-CN" sz="1600" b="1" i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P</a:t>
            </a:r>
            <a:r>
              <a:rPr lang="en-US" altLang="zh-CN" sz="1600" b="1" i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</a:t>
            </a:r>
            <a:endParaRPr lang="en-US" altLang="zh-CN" sz="1600" b="1" i="1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在实际部署中无法获取真实场景</a:t>
            </a:r>
            <a:r>
              <a:rPr lang="en-US" altLang="zh-CN" sz="1600" b="1" i="1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P</a:t>
            </a:r>
            <a:r>
              <a:rPr lang="en-US" altLang="zh-CN" sz="1600" b="1" i="1" baseline="-250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g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但在测试场景下，真实场景是已知的，可用于评估规划器的性能。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" y="2442845"/>
            <a:ext cx="3752850" cy="297815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59385" y="124460"/>
            <a:ext cx="1826260" cy="368300"/>
            <a:chOff x="251" y="196"/>
            <a:chExt cx="2876" cy="580"/>
          </a:xfrm>
        </p:grpSpPr>
        <p:sp>
          <p:nvSpPr>
            <p:cNvPr id="7" name="文本框 0"/>
            <p:cNvSpPr txBox="1"/>
            <p:nvPr>
              <p:custDataLst>
                <p:tags r:id="rId4"/>
              </p:custDataLst>
            </p:nvPr>
          </p:nvSpPr>
          <p:spPr>
            <a:xfrm>
              <a:off x="251" y="196"/>
              <a:ext cx="2877" cy="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pPr algn="l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Baseline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介绍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5"/>
              </p:custDataLst>
            </p:nvPr>
          </p:nvSpPr>
          <p:spPr>
            <a:xfrm>
              <a:off x="255" y="200"/>
              <a:ext cx="120" cy="5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145734" name="直接连接符 6"/>
          <p:cNvCxnSpPr/>
          <p:nvPr/>
        </p:nvCxnSpPr>
        <p:spPr bwMode="auto">
          <a:xfrm flipV="1">
            <a:off x="0" y="629920"/>
            <a:ext cx="9468070" cy="1905"/>
          </a:xfrm>
          <a:prstGeom prst="line">
            <a:avLst/>
          </a:prstGeom>
          <a:ln w="28575" cap="flat" cmpd="sng">
            <a:solidFill>
              <a:srgbClr val="7DA5C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1" name="矩形 140"/>
          <p:cNvSpPr/>
          <p:nvPr>
            <p:custDataLst>
              <p:tags r:id="rId1"/>
            </p:custDataLst>
          </p:nvPr>
        </p:nvSpPr>
        <p:spPr>
          <a:xfrm>
            <a:off x="416560" y="1316990"/>
            <a:ext cx="11054715" cy="76200"/>
          </a:xfrm>
          <a:prstGeom prst="rect">
            <a:avLst/>
          </a:prstGeom>
          <a:gradFill>
            <a:gsLst>
              <a:gs pos="0">
                <a:schemeClr val="bg2">
                  <a:alpha val="17000"/>
                </a:schemeClr>
              </a:gs>
              <a:gs pos="57000">
                <a:schemeClr val="accent1"/>
              </a:gs>
              <a:gs pos="100000">
                <a:schemeClr val="bg2">
                  <a:alpha val="17000"/>
                </a:schemeClr>
              </a:gs>
            </a:gsLst>
            <a:lin ang="108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417195" y="631825"/>
            <a:ext cx="11054080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A. </a:t>
            </a:r>
            <a:r>
              <a:rPr lang="zh-CN" altLang="en-US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探索问题的</a:t>
            </a:r>
            <a:r>
              <a:rPr lang="en-US" altLang="zh-CN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RL</a:t>
            </a:r>
            <a:r>
              <a:rPr lang="zh-CN" altLang="en-US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建模</a:t>
            </a:r>
            <a:endParaRPr lang="zh-CN" altLang="en-US" sz="2400" b="1" dirty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2460" y="1285240"/>
            <a:ext cx="7416800" cy="62738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1. </a:t>
            </a:r>
            <a:r>
              <a:rPr lang="zh-CN" altLang="en-US" sz="2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序列决策问题建模</a:t>
            </a:r>
            <a:endParaRPr lang="zh-CN" altLang="en-US" sz="2400" b="1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0590" y="1856105"/>
            <a:ext cx="10258425" cy="48926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轨迹表示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endParaRPr lang="en-US" altLang="zh-CN" sz="1600" b="1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50000"/>
              </a:lnSpc>
              <a:buSzPct val="75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将机器人轨迹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ψ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表示为视点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(viewpoint)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序列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ψ = (ψ</a:t>
            </a:r>
            <a:r>
              <a:rPr lang="en-US" altLang="en-US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₀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，ψ</a:t>
            </a:r>
            <a:r>
              <a:rPr lang="en-US" altLang="en-US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₁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，...)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其中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ψ</a:t>
            </a:r>
            <a:r>
              <a:rPr lang="en-US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ᵢ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∈ P</a:t>
            </a:r>
            <a:r>
              <a:rPr lang="en-US" altLang="zh-CN" sz="1600" b="0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自由区域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50000"/>
              </a:lnSpc>
              <a:buSzPct val="75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每个决策步骤选择一个新视点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而非规划完整路径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无碰撞图构建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在每个决策步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50000"/>
              </a:lnSpc>
              <a:buFont typeface="+mj-ea"/>
              <a:buNone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①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节点生成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在当前自由区域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</a:t>
            </a:r>
            <a:r>
              <a:rPr lang="en-US" altLang="zh-CN" sz="1600" b="1" i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中均匀分布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900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个候选视点，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</a:t>
            </a:r>
            <a:r>
              <a:rPr lang="en-US" altLang="zh-CN" sz="1600" b="1" i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{v</a:t>
            </a:r>
            <a:r>
              <a:rPr lang="en-US" altLang="en-US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₀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，v</a:t>
            </a:r>
            <a:r>
              <a:rPr lang="en-US" altLang="en-US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₁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，...}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 ∀ v</a:t>
            </a:r>
            <a:r>
              <a:rPr lang="en-US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ᵢ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(x</a:t>
            </a:r>
            <a:r>
              <a:rPr lang="en-US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ᵢ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，y</a:t>
            </a:r>
            <a:r>
              <a:rPr lang="en-US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ᵢ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 ∈ P</a:t>
            </a:r>
            <a:r>
              <a:rPr lang="en-US" altLang="zh-CN" sz="1600" b="0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f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50000"/>
              </a:lnSpc>
              <a:buFont typeface="+mj-ea"/>
              <a:buNone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②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边连接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对每个视点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检查k=20个最近邻（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KNN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用直线连接，如果该边不与障碍物或未知区域碰撞，则加入边集Et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50000"/>
              </a:lnSpc>
              <a:buFont typeface="+mj-ea"/>
              <a:buNone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③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图构建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得到无碰撞图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</a:t>
            </a:r>
            <a:r>
              <a:rPr lang="en-US" altLang="zh-CN" sz="1600" b="1" i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</a:t>
            </a:r>
            <a:r>
              <a:rPr lang="en-US" altLang="zh-CN" sz="1600" b="1" i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，E</a:t>
            </a:r>
            <a:r>
              <a:rPr lang="en-US" altLang="zh-CN" sz="1600" b="1" i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</a:t>
            </a:r>
            <a:r>
              <a:rPr lang="zh-CN" altLang="en-US" sz="1600" b="0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：自由区域内的均匀分布节点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zh-CN" altLang="en-US" sz="1600" b="0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：可通行的边集合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indent="0">
              <a:lnSpc>
                <a:spcPct val="150000"/>
              </a:lnSpc>
              <a:buFont typeface="+mj-ea"/>
              <a:buNone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④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动作选择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机器人从当前位置</a:t>
            </a:r>
            <a:r>
              <a:rPr lang="en-US" altLang="zh-CN" sz="1600" b="0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ψ</a:t>
            </a:r>
            <a:r>
              <a:rPr lang="en-US" altLang="zh-CN" sz="1600" b="0" i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的所有邻居节点中选择一个作为下一个视点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59385" y="124460"/>
            <a:ext cx="1826260" cy="368300"/>
            <a:chOff x="251" y="196"/>
            <a:chExt cx="2876" cy="580"/>
          </a:xfrm>
        </p:grpSpPr>
        <p:sp>
          <p:nvSpPr>
            <p:cNvPr id="7" name="文本框 0"/>
            <p:cNvSpPr txBox="1"/>
            <p:nvPr>
              <p:custDataLst>
                <p:tags r:id="rId3"/>
              </p:custDataLst>
            </p:nvPr>
          </p:nvSpPr>
          <p:spPr>
            <a:xfrm>
              <a:off x="251" y="196"/>
              <a:ext cx="2877" cy="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pPr algn="l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Baseline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介绍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255" y="200"/>
              <a:ext cx="120" cy="5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145734" name="直接连接符 6"/>
          <p:cNvCxnSpPr/>
          <p:nvPr/>
        </p:nvCxnSpPr>
        <p:spPr bwMode="auto">
          <a:xfrm flipV="1">
            <a:off x="0" y="629920"/>
            <a:ext cx="9468070" cy="1905"/>
          </a:xfrm>
          <a:prstGeom prst="line">
            <a:avLst/>
          </a:prstGeom>
          <a:ln w="28575" cap="flat" cmpd="sng">
            <a:solidFill>
              <a:srgbClr val="7DA5C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1" name="矩形 140"/>
          <p:cNvSpPr/>
          <p:nvPr>
            <p:custDataLst>
              <p:tags r:id="rId1"/>
            </p:custDataLst>
          </p:nvPr>
        </p:nvSpPr>
        <p:spPr>
          <a:xfrm>
            <a:off x="416560" y="1316990"/>
            <a:ext cx="11054715" cy="76200"/>
          </a:xfrm>
          <a:prstGeom prst="rect">
            <a:avLst/>
          </a:prstGeom>
          <a:gradFill>
            <a:gsLst>
              <a:gs pos="0">
                <a:schemeClr val="bg2">
                  <a:alpha val="17000"/>
                </a:schemeClr>
              </a:gs>
              <a:gs pos="57000">
                <a:schemeClr val="accent1"/>
              </a:gs>
              <a:gs pos="100000">
                <a:schemeClr val="bg2">
                  <a:alpha val="17000"/>
                </a:schemeClr>
              </a:gs>
            </a:gsLst>
            <a:lin ang="108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417195" y="631825"/>
            <a:ext cx="11054080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A. </a:t>
            </a:r>
            <a:r>
              <a:rPr lang="zh-CN" altLang="en-US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探索问题的</a:t>
            </a:r>
            <a:r>
              <a:rPr lang="en-US" altLang="zh-CN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RL</a:t>
            </a:r>
            <a:r>
              <a:rPr lang="zh-CN" altLang="en-US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建模</a:t>
            </a:r>
            <a:endParaRPr lang="zh-CN" altLang="en-US" sz="2400" b="1" dirty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2460" y="1285240"/>
            <a:ext cx="7416800" cy="62738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2. </a:t>
            </a:r>
            <a:r>
              <a:rPr lang="zh-CN" altLang="en-US" sz="2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观测空间</a:t>
            </a:r>
            <a:endParaRPr lang="zh-CN" altLang="en-US" sz="2400" b="1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0590" y="1856105"/>
            <a:ext cx="4922520" cy="41541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观测定义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</a:t>
            </a:r>
            <a:r>
              <a:rPr lang="en-US" altLang="zh-CN" sz="1600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</a:t>
            </a: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G′</a:t>
            </a:r>
            <a:r>
              <a:rPr lang="en-US" altLang="zh-CN" sz="1600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 ψ</a:t>
            </a:r>
            <a:r>
              <a:rPr lang="en-US" altLang="zh-CN" sz="1600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endParaRPr lang="en-US" altLang="zh-CN" sz="1600" b="0" i="0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其中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50000"/>
              </a:lnSpc>
              <a:buSzPct val="75000"/>
              <a:buFont typeface="Wingdings" panose="05000000000000000000" charset="0"/>
              <a:buChar char="l"/>
            </a:pP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G'</a:t>
            </a:r>
            <a:r>
              <a:rPr lang="en-US" altLang="zh-CN" sz="1600" b="1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(V'</a:t>
            </a:r>
            <a:r>
              <a:rPr lang="en-US" altLang="zh-CN" sz="1600" b="1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，E</a:t>
            </a:r>
            <a:r>
              <a:rPr lang="en-US" altLang="zh-CN" sz="1600" b="1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增强图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(Augmented Graph)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150000"/>
              </a:lnSpc>
              <a:buSzPct val="75000"/>
              <a:buFont typeface="Wingdings" panose="05000000000000000000" charset="0"/>
              <a:buChar char="l"/>
            </a:pP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ψ</a:t>
            </a:r>
            <a:r>
              <a:rPr lang="en-US" altLang="zh-CN" sz="1600" b="1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机器人当前位置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增强图的节点特征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endParaRPr lang="en-US" altLang="zh-CN" sz="1600" b="1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457200">
              <a:lnSpc>
                <a:spcPct val="150000"/>
              </a:lnSpc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对于原始图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</a:t>
            </a:r>
            <a:r>
              <a:rPr lang="en-US" altLang="zh-CN" sz="1600" b="0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的每个节点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(x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，y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增强图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G'</a:t>
            </a:r>
            <a:r>
              <a:rPr lang="en-US" altLang="zh-CN" sz="1600" b="0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的节点包含四个属性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v′ </a:t>
            </a:r>
            <a:r>
              <a:rPr lang="en-US" altLang="zh-CN" sz="1600" b="1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(x</a:t>
            </a:r>
            <a:r>
              <a:rPr lang="en-US" altLang="zh-CN" sz="1600" b="1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，y</a:t>
            </a:r>
            <a:r>
              <a:rPr lang="en-US" altLang="zh-CN" sz="1600" b="1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，u</a:t>
            </a:r>
            <a:r>
              <a:rPr lang="en-US" altLang="zh-CN" sz="1600" b="1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，b</a:t>
            </a:r>
            <a:r>
              <a:rPr lang="en-US" altLang="zh-CN" sz="1600" b="1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①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坐标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(x</a:t>
            </a:r>
            <a:r>
              <a:rPr lang="en-US" altLang="zh-CN" sz="1600" b="1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，y</a:t>
            </a:r>
            <a:r>
              <a:rPr lang="en-US" altLang="zh-CN" sz="1600" b="1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)：</a:t>
            </a:r>
            <a:endParaRPr lang="en-US" altLang="zh-CN" sz="1600" b="1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节点在地图中的2D位置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归一化到[0，1]范围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>
              <a:lnSpc>
                <a:spcPct val="150000"/>
              </a:lnSpc>
            </a:pP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60110" y="1812290"/>
            <a:ext cx="609600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②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效用值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u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endParaRPr lang="en-US" altLang="zh-CN" sz="1600" b="1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en-US" altLang="zh-CN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计算公式：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u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= |F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o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，i|</a:t>
            </a:r>
            <a:endParaRPr lang="en-US" altLang="zh-CN" sz="160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en-US" altLang="zh-CN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约束条件：</a:t>
            </a:r>
            <a:endParaRPr lang="en-US" altLang="zh-CN" sz="160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1200150" lvl="2" indent="-285750">
              <a:lnSpc>
                <a:spcPct val="150000"/>
              </a:lnSpc>
              <a:buSzPct val="75000"/>
              <a:buFont typeface="Wingdings" panose="05000000000000000000" charset="0"/>
              <a:buChar char="l"/>
            </a:pP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∀f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j 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∈ F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o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，i </a:t>
            </a:r>
            <a:r>
              <a:rPr lang="en-US" altLang="zh-CN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</a:t>
            </a:r>
            <a:r>
              <a:rPr lang="zh-CN" altLang="en-US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所有可观测前沿</a:t>
            </a:r>
            <a:r>
              <a:rPr lang="en-US" altLang="zh-CN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</a:t>
            </a:r>
            <a:endParaRPr lang="en-US" altLang="zh-CN" sz="160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1200150" lvl="2" indent="-285750">
              <a:lnSpc>
                <a:spcPct val="150000"/>
              </a:lnSpc>
              <a:buSzPct val="75000"/>
              <a:buFont typeface="Wingdings" panose="05000000000000000000" charset="0"/>
              <a:buChar char="l"/>
            </a:pP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||f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j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- v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|| ≤ d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s</a:t>
            </a:r>
            <a:r>
              <a:rPr lang="en-US" altLang="zh-CN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(</a:t>
            </a:r>
            <a:r>
              <a:rPr lang="zh-CN" altLang="en-US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在传感器范围内</a:t>
            </a:r>
            <a:r>
              <a:rPr lang="en-US" altLang="zh-CN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</a:t>
            </a:r>
            <a:endParaRPr lang="en-US" altLang="zh-CN" sz="160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1200150" lvl="2" indent="-285750">
              <a:lnSpc>
                <a:spcPct val="150000"/>
              </a:lnSpc>
              <a:buSzPct val="75000"/>
              <a:buFont typeface="Wingdings" panose="05000000000000000000" charset="0"/>
              <a:buChar char="l"/>
            </a:pP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L(v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，f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j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 ∩ (P - P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f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 = ∅</a:t>
            </a:r>
            <a:r>
              <a:rPr lang="en-US" altLang="zh-CN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(</a:t>
            </a:r>
            <a:r>
              <a:rPr lang="zh-CN" altLang="en-US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视线无遮挡</a:t>
            </a:r>
            <a:r>
              <a:rPr lang="en-US" altLang="zh-CN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</a:t>
            </a:r>
            <a:endParaRPr lang="en-US" altLang="zh-CN" sz="160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en-US" altLang="zh-CN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物理意义： 隐式编码了该位置的探索价值</a:t>
            </a:r>
            <a:endParaRPr lang="en-US" altLang="zh-CN" sz="160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en-US" altLang="zh-CN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归一化到[0，1]范围</a:t>
            </a:r>
            <a:endParaRPr lang="en-US" altLang="zh-CN" sz="160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③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访问标记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b</a:t>
            </a:r>
            <a:r>
              <a:rPr lang="en-US" altLang="zh-CN" sz="16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∈ {0，1}</a:t>
            </a:r>
            <a:r>
              <a:rPr lang="en-US" altLang="zh-CN" sz="16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endParaRPr lang="en-US" altLang="zh-CN" sz="1600" b="1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zh-CN" altLang="en-US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标记</a:t>
            </a:r>
            <a:r>
              <a:rPr lang="en-US" altLang="zh-CN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该节点是否已被机器人访问过</a:t>
            </a:r>
            <a:endParaRPr lang="en-US" altLang="zh-CN" sz="160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en-US" altLang="zh-CN" sz="16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作用： 实验发现这个简单的标记显著改善学习效果，帮助机器人意识到自己的历史轨迹</a:t>
            </a:r>
            <a:endParaRPr lang="en-US" altLang="zh-CN" sz="160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59385" y="124460"/>
            <a:ext cx="1826260" cy="368300"/>
            <a:chOff x="251" y="196"/>
            <a:chExt cx="2876" cy="580"/>
          </a:xfrm>
        </p:grpSpPr>
        <p:sp>
          <p:nvSpPr>
            <p:cNvPr id="7" name="文本框 0"/>
            <p:cNvSpPr txBox="1"/>
            <p:nvPr>
              <p:custDataLst>
                <p:tags r:id="rId3"/>
              </p:custDataLst>
            </p:nvPr>
          </p:nvSpPr>
          <p:spPr>
            <a:xfrm>
              <a:off x="251" y="196"/>
              <a:ext cx="2877" cy="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pPr algn="l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Baseline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介绍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4"/>
              </p:custDataLst>
            </p:nvPr>
          </p:nvSpPr>
          <p:spPr>
            <a:xfrm>
              <a:off x="255" y="200"/>
              <a:ext cx="120" cy="5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145734" name="直接连接符 6"/>
          <p:cNvCxnSpPr/>
          <p:nvPr/>
        </p:nvCxnSpPr>
        <p:spPr bwMode="auto">
          <a:xfrm flipV="1">
            <a:off x="0" y="629920"/>
            <a:ext cx="9468070" cy="1905"/>
          </a:xfrm>
          <a:prstGeom prst="line">
            <a:avLst/>
          </a:prstGeom>
          <a:ln w="28575" cap="flat" cmpd="sng">
            <a:solidFill>
              <a:srgbClr val="7DA5C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1" name="矩形 140"/>
          <p:cNvSpPr/>
          <p:nvPr>
            <p:custDataLst>
              <p:tags r:id="rId1"/>
            </p:custDataLst>
          </p:nvPr>
        </p:nvSpPr>
        <p:spPr>
          <a:xfrm>
            <a:off x="416560" y="1316990"/>
            <a:ext cx="11054715" cy="76200"/>
          </a:xfrm>
          <a:prstGeom prst="rect">
            <a:avLst/>
          </a:prstGeom>
          <a:gradFill>
            <a:gsLst>
              <a:gs pos="0">
                <a:schemeClr val="bg2">
                  <a:alpha val="17000"/>
                </a:schemeClr>
              </a:gs>
              <a:gs pos="57000">
                <a:schemeClr val="accent1"/>
              </a:gs>
              <a:gs pos="100000">
                <a:schemeClr val="bg2">
                  <a:alpha val="17000"/>
                </a:schemeClr>
              </a:gs>
            </a:gsLst>
            <a:lin ang="108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417195" y="631825"/>
            <a:ext cx="11054080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A. </a:t>
            </a:r>
            <a:r>
              <a:rPr lang="zh-CN" altLang="en-US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探索问题的</a:t>
            </a:r>
            <a:r>
              <a:rPr lang="en-US" altLang="zh-CN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RL</a:t>
            </a:r>
            <a:r>
              <a:rPr lang="zh-CN" altLang="en-US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建模</a:t>
            </a:r>
            <a:endParaRPr lang="zh-CN" altLang="en-US" sz="2400" b="1" dirty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2460" y="1235710"/>
            <a:ext cx="7416800" cy="62738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3. </a:t>
            </a:r>
            <a:r>
              <a:rPr lang="zh-CN" altLang="en-US" sz="20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动作空间</a:t>
            </a:r>
            <a:endParaRPr lang="zh-CN" altLang="en-US" sz="2000" b="1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84885" y="1701800"/>
            <a:ext cx="10560685" cy="240157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50000"/>
              </a:lnSpc>
            </a:pPr>
            <a:r>
              <a:rPr lang="zh-CN" altLang="en-US" sz="1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在每个决策步</a:t>
            </a:r>
            <a:r>
              <a:rPr lang="en-US" altLang="zh-CN" sz="14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zh-CN" altLang="en-US" sz="1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，给定智能体的观测信息</a:t>
            </a:r>
            <a:r>
              <a:rPr lang="en-US" altLang="zh-CN" sz="1400" b="1" i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o</a:t>
            </a:r>
            <a:r>
              <a:rPr lang="en-US" altLang="zh-CN" sz="1400" b="1" i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zh-CN" altLang="en-US" sz="1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，基于注意力机制的神经网络会输出一个随机策略，从所有相邻节点中选择一个作为下一个待访问的观测点。</a:t>
            </a:r>
            <a:r>
              <a:rPr lang="zh-CN" altLang="en-US" sz="140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该策略表示为：</a:t>
            </a:r>
            <a:endParaRPr lang="zh-CN" altLang="en-US" sz="140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0" indent="0" algn="ctr">
              <a:lnSpc>
                <a:spcPct val="150000"/>
              </a:lnSpc>
            </a:pP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π</a:t>
            </a:r>
            <a:r>
              <a:rPr lang="en-US" altLang="zh-CN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θ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</a:t>
            </a:r>
            <a:r>
              <a:rPr lang="en-US" altLang="zh-CN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|o</a:t>
            </a:r>
            <a:r>
              <a:rPr lang="en-US" altLang="zh-CN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π</a:t>
            </a:r>
            <a:r>
              <a:rPr lang="en-US" altLang="zh-CN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θ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ψ</a:t>
            </a:r>
            <a:r>
              <a:rPr lang="en-US" altLang="zh-CN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t+1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= v</a:t>
            </a:r>
            <a:r>
              <a:rPr lang="en-US" altLang="zh-CN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 </a:t>
            </a:r>
            <a:r>
              <a:rPr 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ψ</a:t>
            </a:r>
            <a:r>
              <a:rPr lang="en-US" altLang="zh-CN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v</a:t>
            </a:r>
            <a:r>
              <a:rPr lang="en-US" altLang="zh-CN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i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∈ 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E</a:t>
            </a:r>
            <a:r>
              <a:rPr lang="en-US" altLang="zh-CN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|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o</a:t>
            </a:r>
            <a:r>
              <a:rPr lang="en-US" altLang="zh-CN" b="1" i="1" baseline="-25000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endParaRPr lang="en-US" altLang="zh-CN" b="1" i="1">
              <a:solidFill>
                <a:srgbClr val="FF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en-US" altLang="zh-CN" sz="1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θ</a:t>
            </a:r>
            <a:r>
              <a:rPr lang="zh-CN" altLang="en-US" sz="140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：表示神经网络的权重集合</a:t>
            </a:r>
            <a:endParaRPr lang="zh-CN" altLang="en-US" sz="140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en-US" altLang="zh-CN" sz="1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ψ</a:t>
            </a:r>
            <a:r>
              <a:rPr lang="en-US" altLang="zh-CN" sz="14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t+1</a:t>
            </a:r>
            <a:r>
              <a:rPr lang="en-US" altLang="zh-CN" sz="1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= v</a:t>
            </a:r>
            <a:r>
              <a:rPr lang="en-US" altLang="zh-CN" sz="14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 altLang="en-US" sz="14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zh-CN" altLang="en-US" sz="140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表示下一个观测点为</a:t>
            </a:r>
            <a:r>
              <a:rPr lang="en-US" altLang="zh-CN" sz="1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14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endParaRPr lang="en-US" altLang="zh-CN" sz="1400" b="1" baseline="-2500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  <a:p>
            <a:pPr marL="742950" lvl="1" indent="-285750" algn="l">
              <a:lnSpc>
                <a:spcPct val="150000"/>
              </a:lnSpc>
              <a:buClrTx/>
              <a:buSzPct val="75000"/>
              <a:buFont typeface="Wingdings" panose="05000000000000000000" charset="0"/>
              <a:buChar char="l"/>
            </a:pPr>
            <a:r>
              <a:rPr lang="en-US" altLang="zh-CN" sz="1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(ψ</a:t>
            </a:r>
            <a:r>
              <a:rPr lang="en-US" altLang="zh-CN" sz="14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</a:t>
            </a:r>
            <a:r>
              <a:rPr lang="zh-CN" altLang="en-US" sz="1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，</a:t>
            </a:r>
            <a:r>
              <a:rPr lang="en-US" altLang="zh-CN" sz="1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14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en-US" altLang="zh-CN" sz="1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) ∈ E</a:t>
            </a:r>
            <a:r>
              <a:rPr lang="en-US" altLang="zh-CN" sz="14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</a:t>
            </a:r>
            <a:r>
              <a:rPr lang="zh-CN" altLang="en-US" sz="14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r>
              <a:rPr lang="zh-CN" altLang="en-US" sz="140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表示当前位置</a:t>
            </a:r>
            <a:r>
              <a:rPr lang="en-US" altLang="zh-CN" sz="1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ψ</a:t>
            </a:r>
            <a:r>
              <a:rPr lang="en-US" altLang="zh-CN" sz="14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</a:t>
            </a:r>
            <a:r>
              <a:rPr lang="zh-CN" altLang="en-US" sz="140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与节点</a:t>
            </a:r>
            <a:r>
              <a:rPr lang="en-US" altLang="zh-CN" sz="1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v</a:t>
            </a:r>
            <a:r>
              <a:rPr lang="en-US" altLang="zh-CN" sz="14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i</a:t>
            </a:r>
            <a:r>
              <a:rPr lang="zh-CN" altLang="en-US" sz="140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之间存在可通行边（属于边集</a:t>
            </a:r>
            <a:r>
              <a:rPr lang="en-US" altLang="zh-CN" sz="1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E</a:t>
            </a:r>
            <a:r>
              <a:rPr lang="en-US" altLang="zh-CN" sz="1400" b="1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</a:t>
            </a:r>
            <a:r>
              <a:rPr lang="zh-CN" altLang="en-US" sz="140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</a:t>
            </a:r>
            <a:endParaRPr lang="zh-CN" altLang="en-US" sz="140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2460" y="3698240"/>
            <a:ext cx="7416800" cy="62738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20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4. </a:t>
            </a:r>
            <a:r>
              <a:rPr lang="zh-CN" altLang="en-US" sz="20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奖励设计</a:t>
            </a:r>
            <a:endParaRPr lang="zh-CN" altLang="en-US" sz="2000" b="1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984885" y="4183380"/>
                <a:ext cx="10831830" cy="285242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p>
                <a:pPr marL="0" indent="0">
                  <a:lnSpc>
                    <a:spcPct val="150000"/>
                  </a:lnSpc>
                </a:pPr>
                <a:r>
                  <a:rPr lang="zh-CN" altLang="en-US" sz="1400" i="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机器人在执行每一个移动动作</a:t>
                </a:r>
                <a:r>
                  <a:rPr lang="en-US" altLang="zh-CN" sz="1400" i="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</a:t>
                </a: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a</a:t>
                </a:r>
                <a:r>
                  <a:rPr lang="en-US" altLang="zh-CN" sz="1400" b="1" i="1" baseline="-250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t </a:t>
                </a:r>
                <a:r>
                  <a:rPr lang="zh-CN" altLang="en-US" sz="1400" i="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后，会获得由三部分组成的奖励：</a:t>
                </a:r>
                <a:r>
                  <a:rPr lang="en-US" altLang="zh-CN" sz="1400" b="1" i="1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</a:t>
                </a:r>
                <a:r>
                  <a:rPr lang="en-US" altLang="zh-CN" sz="1400" b="1" i="1" baseline="-25000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t</a:t>
                </a:r>
                <a:r>
                  <a:rPr lang="en-US" altLang="zh-CN" sz="1400" b="1" i="1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(o</a:t>
                </a:r>
                <a:r>
                  <a:rPr lang="en-US" altLang="zh-CN" sz="1400" b="1" i="1" baseline="-25000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t</a:t>
                </a:r>
                <a:r>
                  <a:rPr lang="zh-CN" altLang="en-US" sz="1400" b="1" i="1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，</a:t>
                </a:r>
                <a:r>
                  <a:rPr lang="en-US" altLang="zh-CN" sz="1400" b="1" i="1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a</a:t>
                </a:r>
                <a:r>
                  <a:rPr lang="en-US" altLang="zh-CN" sz="1400" b="1" i="1" baseline="-25000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t</a:t>
                </a:r>
                <a:r>
                  <a:rPr lang="en-US" altLang="zh-CN" sz="1400" b="1" i="1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) = a · r</a:t>
                </a:r>
                <a:r>
                  <a:rPr lang="en-US" altLang="zh-CN" sz="1400" b="1" i="1" baseline="-25000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o</a:t>
                </a:r>
                <a:r>
                  <a:rPr lang="en-US" altLang="zh-CN" sz="1400" b="1" i="1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+ b · r</a:t>
                </a:r>
                <a:r>
                  <a:rPr lang="en-US" altLang="zh-CN" sz="1400" b="1" i="1" baseline="-25000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c</a:t>
                </a:r>
                <a:r>
                  <a:rPr lang="en-US" altLang="zh-CN" sz="1400" b="1" i="1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+ r</a:t>
                </a:r>
                <a:r>
                  <a:rPr lang="en-US" altLang="zh-CN" sz="1400" b="1" i="1" baseline="-25000">
                    <a:solidFill>
                      <a:srgbClr val="FF00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f</a:t>
                </a:r>
                <a:endParaRPr lang="en-US" altLang="zh-CN" sz="1400" b="1" i="1" baseline="-25000">
                  <a:solidFill>
                    <a:srgbClr val="FF00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  <a:p>
                <a:pPr marL="742950" lvl="1" indent="-285750" algn="l">
                  <a:lnSpc>
                    <a:spcPct val="150000"/>
                  </a:lnSpc>
                  <a:buClrTx/>
                  <a:buSzPct val="75000"/>
                  <a:buFont typeface="Wingdings" panose="05000000000000000000" charset="0"/>
                  <a:buChar char="l"/>
                </a:pP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</a:t>
                </a:r>
                <a:r>
                  <a:rPr lang="en-US" altLang="zh-CN" sz="1400" b="1" i="1" baseline="-250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o</a:t>
                </a: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= |F</a:t>
                </a:r>
                <a:r>
                  <a:rPr lang="en-US" altLang="zh-CN" sz="1400" b="1" i="1" baseline="-250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o</a:t>
                </a: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，ψ</a:t>
                </a:r>
                <a:r>
                  <a:rPr lang="en-US" altLang="zh-CN" sz="1400" b="1" i="1" baseline="-250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t+1</a:t>
                </a: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|</a:t>
                </a:r>
                <a:r>
                  <a:rPr lang="en-US" altLang="zh-CN" sz="14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：在新观测点处可观测到的边界（frontier）数量，表示鼓励发现新区域</a:t>
                </a:r>
                <a:endParaRPr lang="en-US" altLang="zh-CN" sz="1400">
                  <a:solidFill>
                    <a:srgbClr val="1A1C1E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  <a:p>
                <a:pPr marL="742950" lvl="1" indent="-285750" algn="l">
                  <a:lnSpc>
                    <a:spcPct val="150000"/>
                  </a:lnSpc>
                  <a:buClrTx/>
                  <a:buSzPct val="75000"/>
                  <a:buFont typeface="Wingdings" panose="05000000000000000000" charset="0"/>
                  <a:buChar char="l"/>
                </a:pP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r</a:t>
                </a:r>
                <a:r>
                  <a:rPr lang="en-US" altLang="zh-CN" sz="1400" b="1" i="1" baseline="-250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c</a:t>
                </a: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= −C(ψ</a:t>
                </a:r>
                <a:r>
                  <a:rPr lang="en-US" altLang="zh-CN" sz="1400" b="1" i="1" baseline="-250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t</a:t>
                </a: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，ψ</a:t>
                </a:r>
                <a:r>
                  <a:rPr lang="en-US" altLang="zh-CN" sz="1400" b="1" i="1" baseline="-250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t+1</a:t>
                </a: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)</a:t>
                </a:r>
                <a:r>
                  <a:rPr lang="en-US" altLang="zh-CN" sz="1400" b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：</a:t>
                </a:r>
                <a:r>
                  <a:rPr lang="en-US" altLang="zh-CN" sz="14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对 “前一观测点与新观测点之间距离” 的惩罚，表示鼓励选择较近的视点</a:t>
                </a:r>
                <a:endParaRPr lang="en-US" altLang="zh-CN" sz="1400">
                  <a:solidFill>
                    <a:srgbClr val="1A1C1E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  <a:p>
                <a:pPr marL="742950" lvl="1" indent="-285750" algn="l">
                  <a:lnSpc>
                    <a:spcPct val="150000"/>
                  </a:lnSpc>
                  <a:buClrTx/>
                  <a:buSzPct val="75000"/>
                  <a:buFont typeface="Wingdings" panose="05000000000000000000" charset="0"/>
                  <a:buChar char="l"/>
                </a:pP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r</a:t>
                </a:r>
                <a:r>
                  <a:rPr lang="en-US" altLang="zh-CN" sz="1400" b="1" i="1" baseline="-250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f</a:t>
                </a: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 =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sz="1400" b="1" i="1">
                            <a:solidFill>
                              <a:srgbClr val="1A1C1E"/>
                            </a:solidFill>
                            <a:latin typeface="Times New Roman" panose="02020603050405020304" charset="0"/>
                            <a:ea typeface="微软雅黑" panose="020B0503020204020204" charset="-122"/>
                            <a:cs typeface="Times New Roman" panose="0202060305040502030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400" b="1" i="1">
                                <a:solidFill>
                                  <a:srgbClr val="1A1C1E"/>
                                </a:solidFill>
                                <a:latin typeface="Times New Roman" panose="02020603050405020304" charset="0"/>
                                <a:ea typeface="微软雅黑" panose="020B0503020204020204" charset="-122"/>
                                <a:cs typeface="Times New Roman" panose="02020603050405020304" charset="0"/>
                              </a:rPr>
                            </m:ctrlPr>
                          </m:eqArrPr>
                          <m:e>
                            <m:r>
                              <a:rPr lang="en-US" altLang="zh-CN" sz="1400" b="1" i="1">
                                <a:solidFill>
                                  <a:srgbClr val="1A1C1E"/>
                                </a:solidFill>
                                <a:latin typeface="Times New Roman" panose="02020603050405020304" charset="0"/>
                                <a:ea typeface="微软雅黑" panose="020B0503020204020204" charset="-122"/>
                                <a:cs typeface="Times New Roman" panose="02020603050405020304" charset="0"/>
                                <a:sym typeface="+mn-ea"/>
                              </a:rPr>
                              <m:t>𝟐𝟎</m:t>
                            </m:r>
                            <m:r>
                              <a:rPr lang="en-US" altLang="zh-CN" sz="1400" b="1" i="1">
                                <a:solidFill>
                                  <a:srgbClr val="1A1C1E"/>
                                </a:solidFill>
                                <a:latin typeface="Times New Roman" panose="02020603050405020304" charset="0"/>
                                <a:ea typeface="微软雅黑" panose="020B0503020204020204" charset="-122"/>
                                <a:cs typeface="Times New Roman" panose="02020603050405020304" charset="0"/>
                                <a:sym typeface="+mn-ea"/>
                              </a:rPr>
                              <m:t>，</m:t>
                            </m:r>
                            <m:r>
                              <a:rPr lang="en-US" altLang="zh-CN" sz="1400" b="1" i="1">
                                <a:solidFill>
                                  <a:srgbClr val="1A1C1E"/>
                                </a:solidFill>
                                <a:latin typeface="Times New Roman" panose="02020603050405020304" charset="0"/>
                                <a:ea typeface="微软雅黑" panose="020B0503020204020204" charset="-122"/>
                                <a:cs typeface="Times New Roman" panose="02020603050405020304" charset="0"/>
                                <a:sym typeface="+mn-ea"/>
                              </a:rPr>
                              <m:t>𝑷</m:t>
                            </m:r>
                            <m:r>
                              <a:rPr lang="en-US" altLang="zh-CN" sz="1400" b="1" i="1" baseline="-25000">
                                <a:solidFill>
                                  <a:srgbClr val="1A1C1E"/>
                                </a:solidFill>
                                <a:latin typeface="Times New Roman" panose="02020603050405020304" charset="0"/>
                                <a:ea typeface="微软雅黑" panose="020B0503020204020204" charset="-122"/>
                                <a:cs typeface="Times New Roman" panose="02020603050405020304" charset="0"/>
                                <a:sym typeface="+mn-ea"/>
                              </a:rPr>
                              <m:t>𝒌</m:t>
                            </m:r>
                            <m:r>
                              <a:rPr lang="en-US" altLang="zh-CN" sz="1400" b="1" i="1">
                                <a:solidFill>
                                  <a:srgbClr val="1A1C1E"/>
                                </a:solidFill>
                                <a:latin typeface="Times New Roman" panose="02020603050405020304" charset="0"/>
                                <a:ea typeface="微软雅黑" panose="020B0503020204020204" charset="-122"/>
                                <a:cs typeface="Times New Roman" panose="02020603050405020304" charset="0"/>
                                <a:sym typeface="+mn-ea"/>
                              </a:rPr>
                              <m:t> = </m:t>
                            </m:r>
                            <m:r>
                              <a:rPr lang="en-US" altLang="zh-CN" sz="1400" b="1" i="1">
                                <a:solidFill>
                                  <a:srgbClr val="1A1C1E"/>
                                </a:solidFill>
                                <a:latin typeface="Times New Roman" panose="02020603050405020304" charset="0"/>
                                <a:ea typeface="微软雅黑" panose="020B0503020204020204" charset="-122"/>
                                <a:cs typeface="Times New Roman" panose="02020603050405020304" charset="0"/>
                                <a:sym typeface="+mn-ea"/>
                              </a:rPr>
                              <m:t>𝑷</m:t>
                            </m:r>
                            <m:r>
                              <a:rPr lang="en-US" altLang="zh-CN" sz="1400" b="1" i="1" baseline="-25000">
                                <a:solidFill>
                                  <a:srgbClr val="1A1C1E"/>
                                </a:solidFill>
                                <a:latin typeface="Times New Roman" panose="02020603050405020304" charset="0"/>
                                <a:ea typeface="微软雅黑" panose="020B0503020204020204" charset="-122"/>
                                <a:cs typeface="Times New Roman" panose="02020603050405020304" charset="0"/>
                                <a:sym typeface="+mn-ea"/>
                              </a:rPr>
                              <m:t>𝒈</m:t>
                            </m:r>
                            <m:r>
                              <a:rPr lang="en-US" altLang="zh-CN" sz="1400" b="1" i="1">
                                <a:solidFill>
                                  <a:srgbClr val="1A1C1E"/>
                                </a:solidFill>
                                <a:latin typeface="Times New Roman" panose="02020603050405020304" charset="0"/>
                                <a:ea typeface="微软雅黑" panose="020B0503020204020204" charset="-122"/>
                                <a:cs typeface="Times New Roman" panose="02020603050405020304" charset="0"/>
                                <a:sym typeface="+mn-ea"/>
                              </a:rPr>
                              <m:t> </m:t>
                            </m:r>
                          </m:e>
                          <m:e>
                            <m:r>
                              <a:rPr lang="en-US" altLang="zh-CN" sz="1400" b="1" i="1">
                                <a:solidFill>
                                  <a:srgbClr val="1A1C1E"/>
                                </a:solidFill>
                                <a:latin typeface="Times New Roman" panose="02020603050405020304" charset="0"/>
                                <a:ea typeface="微软雅黑" panose="020B0503020204020204" charset="-122"/>
                                <a:cs typeface="Times New Roman" panose="02020603050405020304" charset="0"/>
                                <a:sym typeface="+mn-ea"/>
                              </a:rPr>
                              <m:t>𝟎</m:t>
                            </m:r>
                            <m:r>
                              <a:rPr lang="en-US" altLang="zh-CN" sz="1400" b="1" i="1">
                                <a:solidFill>
                                  <a:srgbClr val="1A1C1E"/>
                                </a:solidFill>
                                <a:latin typeface="Times New Roman" panose="02020603050405020304" charset="0"/>
                                <a:ea typeface="微软雅黑" panose="020B0503020204020204" charset="-122"/>
                                <a:cs typeface="Times New Roman" panose="02020603050405020304" charset="0"/>
                                <a:sym typeface="+mn-ea"/>
                              </a:rPr>
                              <m:t>，</m:t>
                            </m:r>
                            <m:r>
                              <a:rPr lang="en-US" altLang="zh-CN" sz="1400" b="1" i="1">
                                <a:solidFill>
                                  <a:srgbClr val="1A1C1E"/>
                                </a:solidFill>
                                <a:latin typeface="Times New Roman" panose="02020603050405020304" charset="0"/>
                                <a:ea typeface="微软雅黑" panose="020B0503020204020204" charset="-122"/>
                                <a:cs typeface="Times New Roman" panose="02020603050405020304" charset="0"/>
                                <a:sym typeface="+mn-ea"/>
                              </a:rPr>
                              <m:t>𝒐𝒕𝒉𝒆𝒓𝒘𝒊𝒔𝒆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14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  <a:sym typeface="+mn-ea"/>
                  </a:rPr>
                  <a:t>  ：</a:t>
                </a:r>
                <a:r>
                  <a:rPr lang="en-US" altLang="zh-CN" sz="14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当探索任务完成（</a:t>
                </a: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P</a:t>
                </a:r>
                <a:r>
                  <a:rPr lang="en-US" altLang="zh-CN" sz="1400" b="1" i="1" baseline="-250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k</a:t>
                </a:r>
                <a:r>
                  <a:rPr lang="en-US" altLang="zh-CN" sz="1400" b="1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= P</a:t>
                </a:r>
                <a:r>
                  <a:rPr lang="en-US" altLang="zh-CN" sz="1400" b="1" i="1" baseline="-250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g</a:t>
                </a:r>
                <a:r>
                  <a:rPr lang="en-US" altLang="zh-CN" sz="14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，实际为当探索完成度超过99%时，即</a:t>
                </a:r>
                <a:r>
                  <a:rPr lang="en-US" altLang="zh-CN" sz="1400" b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|P</a:t>
                </a:r>
                <a:r>
                  <a:rPr lang="en-US" altLang="zh-CN" sz="1400" b="1" baseline="-250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k</a:t>
                </a:r>
                <a:r>
                  <a:rPr lang="en-US" altLang="zh-CN" sz="1400" b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| / |P</a:t>
                </a:r>
                <a:r>
                  <a:rPr lang="en-US" altLang="zh-CN" sz="1400" b="1" baseline="-250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g</a:t>
                </a:r>
                <a:r>
                  <a:rPr lang="en-US" altLang="zh-CN" sz="1400" b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| &gt; 0.99</a:t>
                </a:r>
                <a:r>
                  <a:rPr lang="en-US" altLang="zh-CN" sz="14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）</a:t>
                </a:r>
                <a:endParaRPr lang="en-US" altLang="zh-CN" sz="1400">
                  <a:solidFill>
                    <a:srgbClr val="1A1C1E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  <a:p>
                <a:pPr marL="742950" lvl="1" indent="-285750" algn="l">
                  <a:lnSpc>
                    <a:spcPct val="150000"/>
                  </a:lnSpc>
                  <a:buClrTx/>
                  <a:buSzPct val="75000"/>
                  <a:buFont typeface="Wingdings" panose="05000000000000000000" charset="0"/>
                  <a:buChar char="l"/>
                </a:pPr>
                <a:r>
                  <a:rPr lang="en-US" altLang="zh-CN" sz="14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缩放参数:</a:t>
                </a:r>
                <a:endParaRPr lang="en-US" altLang="zh-CN" sz="1400">
                  <a:solidFill>
                    <a:srgbClr val="1A1C1E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  <a:p>
                <a:pPr marL="1200150" lvl="2" indent="-285750">
                  <a:lnSpc>
                    <a:spcPct val="150000"/>
                  </a:lnSpc>
                  <a:buSzPct val="75000"/>
                  <a:buFont typeface="Wingdings" panose="05000000000000000000" charset="0"/>
                  <a:buChar char="l"/>
                </a:pPr>
                <a:r>
                  <a:rPr lang="en-US" altLang="zh-CN" sz="1400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a</a:t>
                </a:r>
                <a:r>
                  <a:rPr lang="en-US" altLang="zh-CN" sz="14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= 1/50</a:t>
                </a:r>
                <a:r>
                  <a:rPr lang="zh-CN" altLang="en-US" sz="14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：观测奖励权重</a:t>
                </a:r>
                <a:endParaRPr lang="zh-CN" altLang="en-US" sz="1400">
                  <a:solidFill>
                    <a:srgbClr val="1A1C1E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  <a:p>
                <a:pPr marL="1200150" lvl="2" indent="-285750">
                  <a:lnSpc>
                    <a:spcPct val="150000"/>
                  </a:lnSpc>
                  <a:buSzPct val="75000"/>
                  <a:buFont typeface="Wingdings" panose="05000000000000000000" charset="0"/>
                  <a:buChar char="l"/>
                </a:pPr>
                <a:r>
                  <a:rPr lang="en-US" altLang="zh-CN" sz="1400" i="1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b</a:t>
                </a:r>
                <a:r>
                  <a:rPr lang="en-US" altLang="zh-CN" sz="14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 = 1/64</a:t>
                </a:r>
                <a:r>
                  <a:rPr lang="zh-CN" altLang="en-US" sz="1400">
                    <a:solidFill>
                      <a:srgbClr val="1A1C1E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：代价惩罚权重</a:t>
                </a:r>
                <a:endParaRPr lang="zh-CN" altLang="en-US" sz="1400">
                  <a:solidFill>
                    <a:srgbClr val="1A1C1E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  <a:p>
                <a:pPr marL="0" indent="457200">
                  <a:lnSpc>
                    <a:spcPct val="150000"/>
                  </a:lnSpc>
                </a:pPr>
                <a:endParaRPr lang="zh-CN" altLang="en-US" sz="1400">
                  <a:solidFill>
                    <a:srgbClr val="1A1C1E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885" y="4183380"/>
                <a:ext cx="10831830" cy="28524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/>
          <p:cNvGrpSpPr/>
          <p:nvPr/>
        </p:nvGrpSpPr>
        <p:grpSpPr>
          <a:xfrm>
            <a:off x="159385" y="124460"/>
            <a:ext cx="1826260" cy="368300"/>
            <a:chOff x="251" y="196"/>
            <a:chExt cx="2876" cy="580"/>
          </a:xfrm>
        </p:grpSpPr>
        <p:sp>
          <p:nvSpPr>
            <p:cNvPr id="6" name="文本框 0"/>
            <p:cNvSpPr txBox="1"/>
            <p:nvPr>
              <p:custDataLst>
                <p:tags r:id="rId4"/>
              </p:custDataLst>
            </p:nvPr>
          </p:nvSpPr>
          <p:spPr>
            <a:xfrm>
              <a:off x="251" y="196"/>
              <a:ext cx="2877" cy="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pPr algn="l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Baseline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介绍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255" y="200"/>
              <a:ext cx="120" cy="5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145734" name="直接连接符 6"/>
          <p:cNvCxnSpPr/>
          <p:nvPr/>
        </p:nvCxnSpPr>
        <p:spPr bwMode="auto">
          <a:xfrm flipV="1">
            <a:off x="0" y="629920"/>
            <a:ext cx="9468070" cy="1905"/>
          </a:xfrm>
          <a:prstGeom prst="line">
            <a:avLst/>
          </a:prstGeom>
          <a:ln w="28575" cap="flat" cmpd="sng">
            <a:solidFill>
              <a:srgbClr val="7DA5C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1" name="矩形 140"/>
          <p:cNvSpPr/>
          <p:nvPr>
            <p:custDataLst>
              <p:tags r:id="rId1"/>
            </p:custDataLst>
          </p:nvPr>
        </p:nvSpPr>
        <p:spPr>
          <a:xfrm>
            <a:off x="416560" y="1316990"/>
            <a:ext cx="11054715" cy="76200"/>
          </a:xfrm>
          <a:prstGeom prst="rect">
            <a:avLst/>
          </a:prstGeom>
          <a:gradFill>
            <a:gsLst>
              <a:gs pos="0">
                <a:schemeClr val="bg2">
                  <a:alpha val="17000"/>
                </a:schemeClr>
              </a:gs>
              <a:gs pos="57000">
                <a:schemeClr val="accent1"/>
              </a:gs>
              <a:gs pos="100000">
                <a:schemeClr val="bg2">
                  <a:alpha val="17000"/>
                </a:schemeClr>
              </a:gs>
            </a:gsLst>
            <a:lin ang="108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417195" y="631825"/>
            <a:ext cx="11054080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B. </a:t>
            </a:r>
            <a:r>
              <a:rPr lang="zh-CN" altLang="en-US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策略网络</a:t>
            </a:r>
            <a:endParaRPr lang="zh-CN" altLang="en-US" sz="2400" b="1" dirty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2460" y="1400810"/>
            <a:ext cx="7416800" cy="62738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网络整体架构</a:t>
            </a:r>
            <a:endParaRPr lang="zh-CN" altLang="en-US" sz="2400" b="1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310" y="2936240"/>
            <a:ext cx="9372600" cy="2768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602105" y="2273935"/>
            <a:ext cx="8238490" cy="36830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策略网络采用了一个基于注意力的</a:t>
            </a:r>
            <a:r>
              <a:rPr lang="zh-CN" altLang="en-US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编码器</a:t>
            </a:r>
            <a:r>
              <a:rPr lang="en-US" altLang="zh-CN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-</a:t>
            </a:r>
            <a:r>
              <a:rPr lang="zh-CN" altLang="en-US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解码器 </a:t>
            </a:r>
            <a:r>
              <a:rPr lang="en-US" altLang="zh-CN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(Encoder-Decoder)</a:t>
            </a:r>
            <a:r>
              <a:rPr lang="en-US" altLang="zh-CN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 </a:t>
            </a:r>
            <a:r>
              <a:rPr lang="zh-CN" altLang="en-US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架构。</a:t>
            </a:r>
            <a:endParaRPr lang="zh-CN" altLang="en-US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9385" y="124460"/>
            <a:ext cx="1826260" cy="368300"/>
            <a:chOff x="251" y="196"/>
            <a:chExt cx="2876" cy="580"/>
          </a:xfrm>
        </p:grpSpPr>
        <p:sp>
          <p:nvSpPr>
            <p:cNvPr id="6" name="文本框 0"/>
            <p:cNvSpPr txBox="1"/>
            <p:nvPr>
              <p:custDataLst>
                <p:tags r:id="rId6"/>
              </p:custDataLst>
            </p:nvPr>
          </p:nvSpPr>
          <p:spPr>
            <a:xfrm>
              <a:off x="251" y="196"/>
              <a:ext cx="2877" cy="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pPr algn="l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Baseline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介绍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7"/>
              </p:custDataLst>
            </p:nvPr>
          </p:nvSpPr>
          <p:spPr>
            <a:xfrm>
              <a:off x="255" y="200"/>
              <a:ext cx="120" cy="5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145734" name="直接连接符 6"/>
          <p:cNvCxnSpPr/>
          <p:nvPr/>
        </p:nvCxnSpPr>
        <p:spPr bwMode="auto">
          <a:xfrm flipV="1">
            <a:off x="0" y="629920"/>
            <a:ext cx="9468070" cy="1905"/>
          </a:xfrm>
          <a:prstGeom prst="line">
            <a:avLst/>
          </a:prstGeom>
          <a:ln w="28575" cap="flat" cmpd="sng">
            <a:solidFill>
              <a:srgbClr val="7DA5C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1" name="矩形 140"/>
          <p:cNvSpPr/>
          <p:nvPr>
            <p:custDataLst>
              <p:tags r:id="rId1"/>
            </p:custDataLst>
          </p:nvPr>
        </p:nvSpPr>
        <p:spPr>
          <a:xfrm>
            <a:off x="416560" y="1316990"/>
            <a:ext cx="11054715" cy="76200"/>
          </a:xfrm>
          <a:prstGeom prst="rect">
            <a:avLst/>
          </a:prstGeom>
          <a:gradFill>
            <a:gsLst>
              <a:gs pos="0">
                <a:schemeClr val="bg2">
                  <a:alpha val="17000"/>
                </a:schemeClr>
              </a:gs>
              <a:gs pos="57000">
                <a:schemeClr val="accent1"/>
              </a:gs>
              <a:gs pos="100000">
                <a:schemeClr val="bg2">
                  <a:alpha val="17000"/>
                </a:schemeClr>
              </a:gs>
            </a:gsLst>
            <a:lin ang="108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417195" y="631825"/>
            <a:ext cx="11054080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B. </a:t>
            </a:r>
            <a:r>
              <a:rPr lang="zh-CN" altLang="en-US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策略网络</a:t>
            </a:r>
            <a:endParaRPr lang="zh-CN" altLang="en-US" sz="2400" b="1" dirty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2460" y="1363980"/>
            <a:ext cx="7416800" cy="62738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编码器</a:t>
            </a:r>
            <a:endParaRPr lang="zh-CN" altLang="en-US" sz="2400" b="1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9145" y="1979295"/>
            <a:ext cx="7789545" cy="230124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93800" y="4489450"/>
            <a:ext cx="9499600" cy="188722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SzPct val="75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输入：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整个增强图。图中每个节点都包含其坐标、一个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“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效用值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”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（从此点能看到的边界数量）和一个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“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是否已访问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”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的标志。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SzPct val="75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信息传播：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在每一层注意力网络中，一个节点会聚合其邻居节点的信息来更新自身特征。通过堆叠多层，信息可以在图上传播得更远。例如，经过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6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层网络后，一个节点就能感知到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6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步之遥的节点信息。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SzPct val="75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输出：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“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增强的节点特征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”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。此时，每个节点的特征向量都包含了关于整个地图的全局上下文信息，而不仅仅是其自身属性。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59385" y="124460"/>
            <a:ext cx="1826260" cy="368300"/>
            <a:chOff x="251" y="196"/>
            <a:chExt cx="2876" cy="580"/>
          </a:xfrm>
        </p:grpSpPr>
        <p:sp>
          <p:nvSpPr>
            <p:cNvPr id="8" name="文本框 0"/>
            <p:cNvSpPr txBox="1"/>
            <p:nvPr>
              <p:custDataLst>
                <p:tags r:id="rId6"/>
              </p:custDataLst>
            </p:nvPr>
          </p:nvSpPr>
          <p:spPr>
            <a:xfrm>
              <a:off x="251" y="196"/>
              <a:ext cx="2877" cy="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pPr algn="l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Baseline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介绍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7"/>
              </p:custDataLst>
            </p:nvPr>
          </p:nvSpPr>
          <p:spPr>
            <a:xfrm>
              <a:off x="255" y="200"/>
              <a:ext cx="120" cy="5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145734" name="直接连接符 6"/>
          <p:cNvCxnSpPr/>
          <p:nvPr/>
        </p:nvCxnSpPr>
        <p:spPr bwMode="auto">
          <a:xfrm flipV="1">
            <a:off x="0" y="629920"/>
            <a:ext cx="9468070" cy="1905"/>
          </a:xfrm>
          <a:prstGeom prst="line">
            <a:avLst/>
          </a:prstGeom>
          <a:ln w="28575" cap="flat" cmpd="sng">
            <a:solidFill>
              <a:srgbClr val="7DA5C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1" name="矩形 140"/>
          <p:cNvSpPr/>
          <p:nvPr>
            <p:custDataLst>
              <p:tags r:id="rId1"/>
            </p:custDataLst>
          </p:nvPr>
        </p:nvSpPr>
        <p:spPr>
          <a:xfrm>
            <a:off x="416560" y="1316990"/>
            <a:ext cx="11054715" cy="76200"/>
          </a:xfrm>
          <a:prstGeom prst="rect">
            <a:avLst/>
          </a:prstGeom>
          <a:gradFill>
            <a:gsLst>
              <a:gs pos="0">
                <a:schemeClr val="bg2">
                  <a:alpha val="17000"/>
                </a:schemeClr>
              </a:gs>
              <a:gs pos="57000">
                <a:schemeClr val="accent1"/>
              </a:gs>
              <a:gs pos="100000">
                <a:schemeClr val="bg2">
                  <a:alpha val="17000"/>
                </a:schemeClr>
              </a:gs>
            </a:gsLst>
            <a:lin ang="108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417195" y="631825"/>
            <a:ext cx="11054080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B. </a:t>
            </a:r>
            <a:r>
              <a:rPr lang="zh-CN" altLang="en-US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策略网络</a:t>
            </a:r>
            <a:endParaRPr lang="zh-CN" altLang="en-US" sz="2400" b="1" dirty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2460" y="1363980"/>
            <a:ext cx="7416800" cy="627380"/>
          </a:xfrm>
          <a:prstGeom prst="rect">
            <a:avLst/>
          </a:prstGeom>
        </p:spPr>
        <p:txBody>
          <a:bodyPr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4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解码器</a:t>
            </a:r>
            <a:endParaRPr lang="zh-CN" altLang="en-US" sz="2400" b="1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900" y="2174240"/>
            <a:ext cx="7901305" cy="23342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89025" y="4953000"/>
            <a:ext cx="9938385" cy="2152015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SzPct val="75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负责输出最终的行动策略。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SzPct val="75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它使用了</a:t>
            </a:r>
            <a:r>
              <a:rPr lang="zh-CN" altLang="en-US" sz="1600" b="1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指针网络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（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Pointer Network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）的结构，将当前机器人位置的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“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增强特征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”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作为查询（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Query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），将所有邻居节点的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“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增强特征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”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作为键（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Keys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），然后输出一个指向最优邻居节点的概率分布。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100"/>
              </a:spcAft>
              <a:buSzPct val="75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这种结构能自然地适应图中节点邻居数量不固定的情况。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59385" y="124460"/>
            <a:ext cx="1826260" cy="368300"/>
            <a:chOff x="251" y="196"/>
            <a:chExt cx="2876" cy="580"/>
          </a:xfrm>
        </p:grpSpPr>
        <p:sp>
          <p:nvSpPr>
            <p:cNvPr id="8" name="文本框 0"/>
            <p:cNvSpPr txBox="1"/>
            <p:nvPr>
              <p:custDataLst>
                <p:tags r:id="rId6"/>
              </p:custDataLst>
            </p:nvPr>
          </p:nvSpPr>
          <p:spPr>
            <a:xfrm>
              <a:off x="251" y="196"/>
              <a:ext cx="2877" cy="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pPr algn="l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Baseline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介绍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7"/>
              </p:custDataLst>
            </p:nvPr>
          </p:nvSpPr>
          <p:spPr>
            <a:xfrm>
              <a:off x="255" y="200"/>
              <a:ext cx="120" cy="5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145734" name="直接连接符 6"/>
          <p:cNvCxnSpPr/>
          <p:nvPr/>
        </p:nvCxnSpPr>
        <p:spPr bwMode="auto">
          <a:xfrm flipV="1">
            <a:off x="0" y="629920"/>
            <a:ext cx="9468070" cy="1905"/>
          </a:xfrm>
          <a:prstGeom prst="line">
            <a:avLst/>
          </a:prstGeom>
          <a:ln w="28575" cap="flat" cmpd="sng">
            <a:solidFill>
              <a:srgbClr val="7DA5C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1" name="矩形 140"/>
          <p:cNvSpPr/>
          <p:nvPr>
            <p:custDataLst>
              <p:tags r:id="rId1"/>
            </p:custDataLst>
          </p:nvPr>
        </p:nvSpPr>
        <p:spPr>
          <a:xfrm>
            <a:off x="416560" y="1316990"/>
            <a:ext cx="11054715" cy="76200"/>
          </a:xfrm>
          <a:prstGeom prst="rect">
            <a:avLst/>
          </a:prstGeom>
          <a:gradFill>
            <a:gsLst>
              <a:gs pos="0">
                <a:schemeClr val="bg2">
                  <a:alpha val="17000"/>
                </a:schemeClr>
              </a:gs>
              <a:gs pos="57000">
                <a:schemeClr val="accent1"/>
              </a:gs>
              <a:gs pos="100000">
                <a:schemeClr val="bg2">
                  <a:alpha val="17000"/>
                </a:schemeClr>
              </a:gs>
            </a:gsLst>
            <a:lin ang="108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417195" y="631825"/>
            <a:ext cx="11054080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en-US" altLang="zh-CN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C. </a:t>
            </a:r>
            <a:r>
              <a:rPr lang="zh-CN" altLang="en-US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价值网络</a:t>
            </a:r>
            <a:endParaRPr lang="zh-CN" altLang="en-US" sz="2400" b="1" dirty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958850" y="1937385"/>
            <a:ext cx="10198735" cy="372300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lnSpc>
                <a:spcPct val="200000"/>
              </a:lnSpc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价值网络是机器人的“评估者”，负责评估在某个状态下采取某个动作的长期价值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 Q</a:t>
            </a:r>
            <a:r>
              <a:rPr lang="en-US" altLang="zh-CN" sz="1600" b="0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φ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(o</a:t>
            </a:r>
            <a:r>
              <a:rPr lang="en-US" altLang="zh-CN" sz="1600" b="0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，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</a:t>
            </a:r>
            <a:r>
              <a:rPr lang="en-US" altLang="zh-CN" sz="1600" b="0" i="0" baseline="-2500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t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)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SzPct val="80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目的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预测一个动作的未来累计回报。一个好的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Critic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可以告诉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Actor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“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虽然去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A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点眼前收益低，但从长远看（比如能发现一大片未知区域），它的价值远高于去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B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点。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”</a:t>
            </a:r>
            <a:endParaRPr lang="en-US" altLang="zh-CN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SzPct val="80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结构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其结构与策略网络几乎完全相同，也包含一个图注意力编码器来获取全局信息。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285750" indent="-285750">
              <a:lnSpc>
                <a:spcPct val="200000"/>
              </a:lnSpc>
              <a:buSzPct val="80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关键区别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: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在解码器的最后，它没有指针网络。取而代之的是，它将当前节点的增强特征和被选中的动作（即邻居节点）的增强特征拼接起来，然后通过一个全连接层输出一个单一的数值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——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这个动作的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Q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值。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200000"/>
              </a:lnSpc>
              <a:buSzPct val="80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高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Q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值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→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该动作长期收益高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→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可能发现更多探索区域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200000"/>
              </a:lnSpc>
              <a:buSzPct val="80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低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Q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值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en-US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→</a:t>
            </a:r>
            <a:r>
              <a:rPr lang="en-US" altLang="zh-CN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 </a:t>
            </a: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该动作可能导致冗余移动或低效探索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  <a:p>
            <a:pPr marL="742950" lvl="1" indent="-285750">
              <a:lnSpc>
                <a:spcPct val="200000"/>
              </a:lnSpc>
              <a:buSzPct val="80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评价网络学会预测哪些区域未来探索价值高</a:t>
            </a:r>
            <a:endParaRPr lang="zh-CN" altLang="en-US" sz="1600" b="0" i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59385" y="124460"/>
            <a:ext cx="1826260" cy="368300"/>
            <a:chOff x="251" y="196"/>
            <a:chExt cx="2876" cy="580"/>
          </a:xfrm>
        </p:grpSpPr>
        <p:sp>
          <p:nvSpPr>
            <p:cNvPr id="7" name="文本框 0"/>
            <p:cNvSpPr txBox="1"/>
            <p:nvPr>
              <p:custDataLst>
                <p:tags r:id="rId5"/>
              </p:custDataLst>
            </p:nvPr>
          </p:nvSpPr>
          <p:spPr>
            <a:xfrm>
              <a:off x="251" y="196"/>
              <a:ext cx="2877" cy="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pPr algn="l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Baseline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介绍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4" name="矩形 3"/>
            <p:cNvSpPr/>
            <p:nvPr>
              <p:custDataLst>
                <p:tags r:id="rId6"/>
              </p:custDataLst>
            </p:nvPr>
          </p:nvSpPr>
          <p:spPr>
            <a:xfrm>
              <a:off x="255" y="200"/>
              <a:ext cx="120" cy="5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145734" name="直接连接符 6"/>
          <p:cNvCxnSpPr/>
          <p:nvPr/>
        </p:nvCxnSpPr>
        <p:spPr bwMode="auto">
          <a:xfrm flipV="1">
            <a:off x="0" y="629920"/>
            <a:ext cx="9468070" cy="1905"/>
          </a:xfrm>
          <a:prstGeom prst="line">
            <a:avLst/>
          </a:prstGeom>
          <a:ln w="28575" cap="flat" cmpd="sng">
            <a:solidFill>
              <a:srgbClr val="7DA5CB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141" name="矩形 140"/>
          <p:cNvSpPr/>
          <p:nvPr>
            <p:custDataLst>
              <p:tags r:id="rId1"/>
            </p:custDataLst>
          </p:nvPr>
        </p:nvSpPr>
        <p:spPr>
          <a:xfrm>
            <a:off x="416560" y="1316990"/>
            <a:ext cx="11054715" cy="76200"/>
          </a:xfrm>
          <a:prstGeom prst="rect">
            <a:avLst/>
          </a:prstGeom>
          <a:gradFill>
            <a:gsLst>
              <a:gs pos="0">
                <a:schemeClr val="bg2">
                  <a:alpha val="17000"/>
                </a:schemeClr>
              </a:gs>
              <a:gs pos="57000">
                <a:schemeClr val="accent1"/>
              </a:gs>
              <a:gs pos="100000">
                <a:schemeClr val="bg2">
                  <a:alpha val="17000"/>
                </a:schemeClr>
              </a:gs>
            </a:gsLst>
            <a:lin ang="1086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417195" y="631825"/>
            <a:ext cx="11054080" cy="653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None/>
            </a:pPr>
            <a:r>
              <a:rPr lang="zh-CN" altLang="en-US" sz="2400" b="1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三、</a:t>
            </a:r>
            <a:r>
              <a:rPr lang="zh-CN" altLang="en-US" sz="2400" b="1" dirty="0">
                <a:solidFill>
                  <a:srgbClr val="1A1C1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研究结果</a:t>
            </a:r>
            <a:endParaRPr lang="zh-CN" altLang="en-US" sz="2400" b="1" dirty="0">
              <a:solidFill>
                <a:srgbClr val="1A1C1E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390" y="1424305"/>
            <a:ext cx="9321800" cy="1206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40360" y="3169285"/>
            <a:ext cx="10669270" cy="4220210"/>
          </a:xfrm>
          <a:prstGeom prst="rect">
            <a:avLst/>
          </a:prstGeom>
        </p:spPr>
        <p:txBody>
          <a:bodyPr>
            <a:noAutofit/>
          </a:bodyPr>
          <a:p>
            <a:pPr marL="0" indent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1</a:t>
            </a:r>
            <a:r>
              <a:rPr lang="en-US" altLang="zh-CN" sz="1600" b="1">
                <a:solidFill>
                  <a:srgbClr val="1A1C1E"/>
                </a:solidFill>
                <a:latin typeface="Inter" panose="02000503000000020004"/>
                <a:ea typeface="Inter" panose="02000503000000020004"/>
                <a:sym typeface="+mn-ea"/>
              </a:rPr>
              <a:t>. </a:t>
            </a:r>
            <a:r>
              <a:rPr lang="zh-CN" altLang="en-US" sz="1600" b="1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实验环境与基准</a:t>
            </a:r>
            <a:r>
              <a:rPr lang="en-US" altLang="zh-CN" sz="1600" b="1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:</a:t>
            </a:r>
            <a:endParaRPr lang="en-US" altLang="zh-CN" sz="1600" b="1" i="0">
              <a:solidFill>
                <a:srgbClr val="1A1C1E"/>
              </a:solidFill>
              <a:latin typeface="Inter" panose="02000503000000020004"/>
              <a:ea typeface="Inter" panose="02000503000000020004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环境</a:t>
            </a:r>
            <a:r>
              <a:rPr lang="en-US" altLang="zh-CN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: </a:t>
            </a: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在数百个随机生成的</a:t>
            </a:r>
            <a:r>
              <a:rPr lang="en-US" altLang="zh-CN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2D</a:t>
            </a: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室内场景上进行测试。</a:t>
            </a:r>
            <a:endParaRPr lang="zh-CN" altLang="en-US" sz="1600" b="0" i="0">
              <a:solidFill>
                <a:srgbClr val="1A1C1E"/>
              </a:solidFill>
              <a:latin typeface="Inter" panose="02000503000000020004"/>
              <a:ea typeface="Inter" panose="02000503000000020004"/>
            </a:endParaRPr>
          </a:p>
          <a:p>
            <a:pPr marL="285750" indent="-28575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80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对比基准</a:t>
            </a:r>
            <a:r>
              <a:rPr lang="en-US" altLang="zh-CN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:</a:t>
            </a:r>
            <a:endParaRPr lang="en-US" altLang="zh-CN" sz="1600" b="0" i="0">
              <a:solidFill>
                <a:srgbClr val="1A1C1E"/>
              </a:solidFill>
              <a:latin typeface="Inter" panose="02000503000000020004"/>
              <a:ea typeface="Inter" panose="02000503000000020004"/>
            </a:endParaRPr>
          </a:p>
          <a:p>
            <a:pPr marL="742950" lvl="2" indent="-285750" algn="l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传统SOTA方法: Nearest Frontier, Utility-based Frontier, NBVP, TARE Local。</a:t>
            </a:r>
            <a:endParaRPr lang="zh-CN" altLang="en-US" sz="1600" b="0" i="0">
              <a:solidFill>
                <a:srgbClr val="1A1C1E"/>
              </a:solidFill>
              <a:latin typeface="Inter" panose="02000503000000020004"/>
              <a:ea typeface="Inter" panose="02000503000000020004"/>
            </a:endParaRPr>
          </a:p>
          <a:p>
            <a:pPr marL="742950" lvl="2" indent="-285750" algn="l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Wingdings" panose="05000000000000000000" charset="0"/>
              <a:buChar char="l"/>
            </a:pP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基于学习的SOTA方法: 一个基于CNN的深度强化学习探索器。</a:t>
            </a:r>
            <a:endParaRPr lang="zh-CN" altLang="en-US" sz="1600" b="0" i="0">
              <a:solidFill>
                <a:srgbClr val="1A1C1E"/>
              </a:solidFill>
              <a:latin typeface="Inter" panose="02000503000000020004"/>
              <a:ea typeface="Inter" panose="02000503000000020004"/>
            </a:endParaRPr>
          </a:p>
          <a:p>
            <a:pPr marL="0" indent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2. </a:t>
            </a:r>
            <a:r>
              <a:rPr lang="zh-CN" altLang="en-US" sz="1600" b="1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评估指标</a:t>
            </a:r>
            <a:r>
              <a:rPr lang="en-US" altLang="zh-CN" sz="1600" b="1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:</a:t>
            </a:r>
            <a:endParaRPr lang="en-US" altLang="zh-CN" sz="1600" b="1" i="0">
              <a:solidFill>
                <a:srgbClr val="1A1C1E"/>
              </a:solidFill>
              <a:latin typeface="Inter" panose="02000503000000020004"/>
              <a:ea typeface="Inter" panose="02000503000000020004"/>
            </a:endParaRPr>
          </a:p>
          <a:p>
            <a:pPr marL="0" indent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/>
              <a:buNone/>
            </a:pP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完成探索所需的总路径长度：</a:t>
            </a:r>
            <a:r>
              <a:rPr lang="en-US" altLang="zh-CN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 </a:t>
            </a: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越低越好，直接反映探索效率。</a:t>
            </a:r>
            <a:endParaRPr lang="zh-CN" altLang="en-US" sz="1600" b="0" i="0">
              <a:solidFill>
                <a:srgbClr val="1A1C1E"/>
              </a:solidFill>
              <a:latin typeface="Inter" panose="02000503000000020004"/>
              <a:ea typeface="Inter" panose="02000503000000020004"/>
            </a:endParaRPr>
          </a:p>
          <a:p>
            <a:pPr marL="0" indent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3. </a:t>
            </a:r>
            <a:r>
              <a:rPr lang="zh-CN" altLang="en-US" sz="1600" b="1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关键量化结果</a:t>
            </a:r>
            <a:r>
              <a:rPr lang="en-US" altLang="zh-CN" sz="1600" b="1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:</a:t>
            </a:r>
            <a:endParaRPr lang="en-US" altLang="zh-CN" sz="1600" b="1" i="0">
              <a:solidFill>
                <a:srgbClr val="1A1C1E"/>
              </a:solidFill>
              <a:latin typeface="Inter" panose="02000503000000020004"/>
              <a:ea typeface="Inter" panose="02000503000000020004"/>
            </a:endParaRPr>
          </a:p>
          <a:p>
            <a:pPr marL="342900" indent="-3429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全面超越：</a:t>
            </a:r>
            <a:r>
              <a:rPr lang="en-US" altLang="zh-CN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 </a:t>
            </a: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在所有四个类别的测试集上，</a:t>
            </a:r>
            <a:r>
              <a:rPr lang="en-US" altLang="zh-CN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ARIADNE</a:t>
            </a: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的平均路径长度显著低于所有基准方法（如</a:t>
            </a:r>
            <a:r>
              <a:rPr lang="en-US" altLang="zh-CN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Table I</a:t>
            </a: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所示）。</a:t>
            </a:r>
            <a:endParaRPr lang="zh-CN" altLang="en-US" sz="1600" b="0" i="0">
              <a:solidFill>
                <a:srgbClr val="1A1C1E"/>
              </a:solidFill>
              <a:latin typeface="Inter" panose="02000503000000020004"/>
              <a:ea typeface="Inter" panose="02000503000000020004"/>
            </a:endParaRPr>
          </a:p>
          <a:p>
            <a:pPr marL="342900" indent="-3429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效率优势：</a:t>
            </a:r>
            <a:r>
              <a:rPr lang="en-US" altLang="zh-CN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 ARIADNE</a:t>
            </a: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规划的路径更平滑、更具目的性，而传统方法则表现出更多的犹豫和重复移动。</a:t>
            </a:r>
            <a:endParaRPr lang="zh-CN" altLang="en-US" sz="1600" b="0" i="0">
              <a:solidFill>
                <a:srgbClr val="1A1C1E"/>
              </a:solidFill>
              <a:latin typeface="Inter" panose="02000503000000020004"/>
              <a:ea typeface="Inter" panose="02000503000000020004"/>
            </a:endParaRPr>
          </a:p>
          <a:p>
            <a:pPr marL="342900" indent="-3429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ea"/>
              <a:buAutoNum type="circleNumDbPlain"/>
            </a:pP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泛化能力验证：</a:t>
            </a:r>
            <a:r>
              <a:rPr lang="en-US" altLang="zh-CN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 </a:t>
            </a: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作者还在一个高保真的</a:t>
            </a:r>
            <a:r>
              <a:rPr lang="en-US" altLang="zh-CN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ROS</a:t>
            </a: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仿真环境中对</a:t>
            </a:r>
            <a:r>
              <a:rPr lang="en-US" altLang="zh-CN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ARIADNE</a:t>
            </a: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进行了测试。尽管仿真环境的传感器模型和物理特性与训练环境差异巨大，</a:t>
            </a:r>
            <a:r>
              <a:rPr lang="en-US" altLang="zh-CN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ARIADNE</a:t>
            </a:r>
            <a:r>
              <a:rPr lang="zh-CN" altLang="en-US" sz="1600" b="0" i="0">
                <a:solidFill>
                  <a:srgbClr val="1A1C1E"/>
                </a:solidFill>
                <a:latin typeface="Inter" panose="02000503000000020004"/>
                <a:ea typeface="Inter" panose="02000503000000020004"/>
              </a:rPr>
              <a:t>依然能做出高效、合理的探索决策，证明了其强大的泛化能力。</a:t>
            </a:r>
            <a:endParaRPr lang="zh-CN" altLang="en-US" sz="1600" b="0" i="0">
              <a:solidFill>
                <a:srgbClr val="1A1C1E"/>
              </a:solidFill>
              <a:latin typeface="Inter" panose="02000503000000020004"/>
              <a:ea typeface="Inter" panose="020005030000000200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5105" y="2471420"/>
            <a:ext cx="6640830" cy="153098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159385" y="124460"/>
            <a:ext cx="1826260" cy="368300"/>
            <a:chOff x="251" y="196"/>
            <a:chExt cx="2876" cy="580"/>
          </a:xfrm>
        </p:grpSpPr>
        <p:sp>
          <p:nvSpPr>
            <p:cNvPr id="8" name="文本框 0"/>
            <p:cNvSpPr txBox="1"/>
            <p:nvPr>
              <p:custDataLst>
                <p:tags r:id="rId7"/>
              </p:custDataLst>
            </p:nvPr>
          </p:nvSpPr>
          <p:spPr>
            <a:xfrm>
              <a:off x="251" y="196"/>
              <a:ext cx="2877" cy="5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 anchor="t">
              <a:spAutoFit/>
            </a:bodyPr>
            <a:p>
              <a:pPr algn="l"/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Baseline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Calibri" panose="020F0502020204030204" charset="0"/>
                </a:rPr>
                <a:t>介绍</a:t>
              </a:r>
              <a:endPara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Calibri" panose="020F0502020204030204" charset="0"/>
              </a:endParaRPr>
            </a:p>
          </p:txBody>
        </p:sp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255" y="200"/>
              <a:ext cx="120" cy="562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190" name="Rectangle 36"/>
          <p:cNvSpPr/>
          <p:nvPr/>
        </p:nvSpPr>
        <p:spPr bwMode="auto">
          <a:xfrm>
            <a:off x="609600" y="2294255"/>
            <a:ext cx="10973435" cy="1406525"/>
          </a:xfrm>
          <a:prstGeom prst="rect">
            <a:avLst/>
          </a:prstGeom>
          <a:solidFill>
            <a:srgbClr val="0070C0">
              <a:alpha val="15000"/>
            </a:srgbClr>
          </a:solidFill>
          <a:ln w="6350">
            <a:noFill/>
          </a:ln>
        </p:spPr>
        <p:txBody>
          <a:bodyPr wrap="none" lIns="0" tIns="0" rIns="0" bIns="0" anchor="ctr" anchorCtr="0"/>
          <a:lstStyle/>
          <a:p>
            <a:pPr algn="ctr">
              <a:spcBef>
                <a:spcPts val="0"/>
              </a:spcBef>
              <a:defRPr/>
            </a:pPr>
            <a:endParaRPr 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97162" name="图片 4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747433" y="2423874"/>
            <a:ext cx="6697133" cy="1147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97163" name="图片 6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07567" y="1242212"/>
            <a:ext cx="1176867" cy="105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160670_1*i*0"/>
  <p:tag name="KSO_WM_TEMPLATE_CATEGORY" val="diagram"/>
  <p:tag name="KSO_WM_TEMPLATE_INDEX" val="160670"/>
  <p:tag name="KSO_WM_UNIT_INDEX" val="0"/>
  <p:tag name="KSO_WM_DIAGRAM_VIRTUALLY_FRAME" val="{&quot;height&quot;:253.34622047244093,&quot;left&quot;:56.05,&quot;top&quot;:180.15385826771654,&quot;width&quot;:546.3923622047243}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70"/>
  <p:tag name="KSO_WM_UNIT_TYPE" val="l_i"/>
  <p:tag name="KSO_WM_UNIT_INDEX" val="1_1"/>
  <p:tag name="KSO_WM_UNIT_ID" val="diagram160670_1*l_i*1_1"/>
  <p:tag name="KSO_WM_UNIT_CLEAR" val="1"/>
  <p:tag name="KSO_WM_UNIT_LAYERLEVEL" val="1_1"/>
  <p:tag name="KSO_WM_DIAGRAM_GROUP_CODE" val="l1-1"/>
  <p:tag name="KSO_WM_UNIT_FILL_FORE_SCHEMECOLOR_INDEX" val="6"/>
  <p:tag name="KSO_WM_UNIT_FILL_TYPE" val="1"/>
  <p:tag name="KSO_WM_UNIT_TEXT_FILL_FORE_SCHEMECOLOR_INDEX" val="14"/>
  <p:tag name="KSO_WM_UNIT_TEXT_FILL_TYPE" val="1"/>
  <p:tag name="KSO_WM_DIAGRAM_VIRTUALLY_FRAME" val="{&quot;height&quot;:253.34622047244093,&quot;left&quot;:56.05,&quot;top&quot;:180.15385826771654,&quot;width&quot;:546.3923622047243}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70"/>
  <p:tag name="KSO_WM_UNIT_TYPE" val="l_h_f"/>
  <p:tag name="KSO_WM_UNIT_INDEX" val="1_1_1"/>
  <p:tag name="KSO_WM_UNIT_ID" val="diagram160670_1*l_h_f*1_1_1"/>
  <p:tag name="KSO_WM_UNIT_CLEAR" val="1"/>
  <p:tag name="KSO_WM_UNIT_LAYERLEVEL" val="1_1_1"/>
  <p:tag name="KSO_WM_UNIT_VALUE" val="84"/>
  <p:tag name="KSO_WM_UNIT_HIGHLIGHT" val="0"/>
  <p:tag name="KSO_WM_UNIT_COMPATIBLE" val="0"/>
  <p:tag name="KSO_WM_DIAGRAM_GROUP_CODE" val="l1-1"/>
  <p:tag name="KSO_WM_UNIT_PRESET_TEXT" val="LOREM"/>
  <p:tag name="KSO_WM_UNIT_FILL_FORE_SCHEMECOLOR_INDEX" val="5"/>
  <p:tag name="KSO_WM_UNIT_FILL_TYPE" val="1"/>
  <p:tag name="KSO_WM_UNIT_TEXT_FILL_FORE_SCHEMECOLOR_INDEX" val="14"/>
  <p:tag name="KSO_WM_UNIT_TEXT_FILL_TYPE" val="1"/>
  <p:tag name="KSO_WM_DIAGRAM_VIRTUALLY_FRAME" val="{&quot;height&quot;:253.34622047244093,&quot;left&quot;:56.05,&quot;top&quot;:180.15385826771654,&quot;width&quot;:546.3923622047243}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160670"/>
  <p:tag name="KSO_WM_UNIT_TYPE" val="l_i"/>
  <p:tag name="KSO_WM_UNIT_INDEX" val="1_2"/>
  <p:tag name="KSO_WM_UNIT_ID" val="diagram160670_1*l_i*1_2"/>
  <p:tag name="KSO_WM_UNIT_CLEAR" val="1"/>
  <p:tag name="KSO_WM_UNIT_LAYERLEVEL" val="1_1"/>
  <p:tag name="KSO_WM_DIAGRAM_GROUP_CODE" val="l1-1"/>
  <p:tag name="KSO_WM_UNIT_FILL_FORE_SCHEMECOLOR_INDEX" val="6"/>
  <p:tag name="KSO_WM_UNIT_FILL_TYPE" val="1"/>
  <p:tag name="KSO_WM_UNIT_TEXT_FILL_FORE_SCHEMECOLOR_INDEX" val="14"/>
  <p:tag name="KSO_WM_UNIT_TEXT_FILL_TYPE" val="1"/>
  <p:tag name="KSO_WM_DIAGRAM_VIRTUALLY_FRAME" val="{&quot;height&quot;:253.34622047244093,&quot;left&quot;:56.05,&quot;top&quot;:180.15385826771654,&quot;width&quot;:546.3923622047243}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28045_2*l_h_i*1_1_1"/>
  <p:tag name="KSO_WM_TEMPLATE_CATEGORY" val="diagram"/>
  <p:tag name="KSO_WM_TEMPLATE_INDEX" val="20228045"/>
  <p:tag name="KSO_WM_UNIT_LAYERLEVEL" val="1_1_1"/>
  <p:tag name="KSO_WM_TAG_VERSION" val="1.0"/>
  <p:tag name="KSO_WM_UNIT_LINE_FORE_SCHEMECOLOR_INDEX" val="5"/>
  <p:tag name="KSO_WM_UNIT_LINE_FILL_TYPE" val="2"/>
  <p:tag name="KSO_WM_DIAGRAM_VIRTUALLY_FRAME" val="{&quot;height&quot;:360.65,&quot;left&quot;:62.6,&quot;top&quot;:141,&quot;width&quot;:793.4}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>
        <a:ln w="1905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自定义 7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70C0"/>
      </a:hlink>
      <a:folHlink>
        <a:srgbClr val="808080"/>
      </a:folHlink>
    </a:clrScheme>
    <a:fontScheme name="默认设计模板">
      <a:majorFont>
        <a:latin typeface="Arial"/>
        <a:ea typeface="宋体"/>
        <a:cs typeface="Arial"/>
      </a:majorFont>
      <a:minorFont>
        <a:latin typeface="Arial"/>
        <a:ea typeface="宋体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自定义设计方案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4_自定义设计方案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/>
      <a:lstStyle/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/>
      <a:lstStyle/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3319</Words>
  <Application>WPS 演示</Application>
  <PresentationFormat>On-screen Show (4:3)</PresentationFormat>
  <Paragraphs>172</Paragraphs>
  <Slides>13</Slides>
  <Notes>13</Notes>
  <HiddenSlides>0</HiddenSlides>
  <MMClips>2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13</vt:i4>
      </vt:variant>
    </vt:vector>
  </HeadingPairs>
  <TitlesOfParts>
    <vt:vector size="44" baseType="lpstr">
      <vt:lpstr>Arial</vt:lpstr>
      <vt:lpstr>宋体</vt:lpstr>
      <vt:lpstr>Wingdings</vt:lpstr>
      <vt:lpstr>Arial</vt:lpstr>
      <vt:lpstr>黑体</vt:lpstr>
      <vt:lpstr>隶书</vt:lpstr>
      <vt:lpstr>微软雅黑</vt:lpstr>
      <vt:lpstr>Tahoma</vt:lpstr>
      <vt:lpstr>仿宋_GB2312</vt:lpstr>
      <vt:lpstr>Calibri</vt:lpstr>
      <vt:lpstr>方正小标宋简体</vt:lpstr>
      <vt:lpstr>Calibri</vt:lpstr>
      <vt:lpstr>Wingdings</vt:lpstr>
      <vt:lpstr>Arial Unicode MS</vt:lpstr>
      <vt:lpstr>Calibri Light</vt:lpstr>
      <vt:lpstr>仿宋</vt:lpstr>
      <vt:lpstr>Tahoma</vt:lpstr>
      <vt:lpstr>仿宋_GB2312</vt:lpstr>
      <vt:lpstr>方正仿宋_GB2312</vt:lpstr>
      <vt:lpstr>Times New Roman</vt:lpstr>
      <vt:lpstr>MS PGothic</vt:lpstr>
      <vt:lpstr>Cambria Math</vt:lpstr>
      <vt:lpstr>Inter</vt:lpstr>
      <vt:lpstr>1_Office 主题</vt:lpstr>
      <vt:lpstr>默认设计模板</vt:lpstr>
      <vt:lpstr>4_自定义设计方案</vt:lpstr>
      <vt:lpstr>Equation.KSEE3</vt:lpstr>
      <vt:lpstr>Equation.KSEE3</vt:lpstr>
      <vt:lpstr>Equation.KSEE3</vt:lpstr>
      <vt:lpstr>Equation.KSEE3</vt:lpstr>
      <vt:lpstr>Equation.KSEE3</vt:lpstr>
      <vt:lpstr>月度工作汇报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仿真测试组月度汇报</dc:title>
  <dc:creator>李锦洁</dc:creator>
  <cp:lastModifiedBy>宋恩圣</cp:lastModifiedBy>
  <cp:revision>93</cp:revision>
  <dcterms:created xsi:type="dcterms:W3CDTF">2025-03-28T08:19:00Z</dcterms:created>
  <dcterms:modified xsi:type="dcterms:W3CDTF">2026-08-20T02:26:05Z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1F6DCE81A4504D1FAA762955B7B208A1_13</vt:lpwstr>
  </property>
</Properties>
</file>